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-16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Вторник, 15 Ноябрь 16 г.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Вторник, 15 Ноябрь 16 г.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microsoft.com/office/2007/relationships/hdphoto" Target="../media/hdphoto3.wdp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microsoft.com/office/2007/relationships/hdphoto" Target="../media/hdphoto4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microsoft.com/office/2007/relationships/hdphoto" Target="../media/hdphoto6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dirty="0" smtClean="0"/>
              <a:t>Информационные знаки (продолжение)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i="1" dirty="0" smtClean="0"/>
              <a:t>Знаки соответствия</a:t>
            </a:r>
          </a:p>
          <a:p>
            <a:r>
              <a:rPr lang="ru-RU" sz="2800" i="1" dirty="0" smtClean="0"/>
              <a:t>Знаки обращения на рынке</a:t>
            </a:r>
          </a:p>
          <a:p>
            <a:r>
              <a:rPr lang="ru-RU" sz="2800" i="1" dirty="0" smtClean="0"/>
              <a:t>Знаки качества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76197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340120"/>
            <a:ext cx="8229600" cy="9906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Знаки соответствия и обращения на рынке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Знак соответствия </a:t>
            </a:r>
            <a:r>
              <a:rPr lang="ru-RU" dirty="0" smtClean="0"/>
              <a:t>– обозначение, служащее для информирования приобретателей, в том числе потребителей, о соответствии объекта сертификации требованиям системы добровольной сертификации или национальному стандарту;</a:t>
            </a:r>
          </a:p>
          <a:p>
            <a:r>
              <a:rPr lang="ru-RU" b="1" dirty="0" smtClean="0"/>
              <a:t>Знак обращения на рынке </a:t>
            </a:r>
            <a:r>
              <a:rPr lang="ru-RU" dirty="0" smtClean="0"/>
              <a:t>– обозначение, служащее для информирования приобретателей, в том числе потребителей о соответствии выпускаемой в обращение продукции требованиям ТР</a:t>
            </a:r>
          </a:p>
          <a:p>
            <a:endParaRPr lang="ru-RU" dirty="0"/>
          </a:p>
          <a:p>
            <a:pPr marL="0" indent="0" algn="r">
              <a:buNone/>
            </a:pPr>
            <a:r>
              <a:rPr lang="ru-RU" dirty="0" smtClean="0"/>
              <a:t>ФЗ «О техническом регулировании»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95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1748" y="2160207"/>
            <a:ext cx="8338140" cy="65616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i="1" dirty="0" smtClean="0">
                <a:solidFill>
                  <a:schemeClr val="tx2">
                    <a:lumMod val="50000"/>
                  </a:schemeClr>
                </a:solidFill>
              </a:rPr>
              <a:t>Российский знак обращения продукции на  рынке</a:t>
            </a:r>
          </a:p>
          <a:p>
            <a:pPr marL="0" indent="0" algn="ctr">
              <a:buNone/>
            </a:pPr>
            <a:r>
              <a:rPr lang="ru-RU" sz="1800" b="1" i="1" dirty="0" smtClean="0">
                <a:solidFill>
                  <a:schemeClr val="tx2">
                    <a:lumMod val="50000"/>
                  </a:schemeClr>
                </a:solidFill>
              </a:rPr>
              <a:t> (применяется при обязательной сертификации и декларировании)</a:t>
            </a:r>
            <a:endParaRPr lang="ru-RU" sz="18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51" y="369568"/>
            <a:ext cx="4797194" cy="1790638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3" y="3074281"/>
            <a:ext cx="1918879" cy="1683497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92" y="3074281"/>
            <a:ext cx="1767026" cy="17749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813" y="3074281"/>
            <a:ext cx="1900250" cy="1780332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6" y="3074281"/>
            <a:ext cx="1808558" cy="1882544"/>
          </a:xfrm>
          <a:prstGeom prst="rect">
            <a:avLst/>
          </a:prstGeom>
        </p:spPr>
      </p:pic>
      <p:sp>
        <p:nvSpPr>
          <p:cNvPr id="9" name="Содержимое 2"/>
          <p:cNvSpPr txBox="1">
            <a:spLocks/>
          </p:cNvSpPr>
          <p:nvPr/>
        </p:nvSpPr>
        <p:spPr>
          <a:xfrm>
            <a:off x="207073" y="5277518"/>
            <a:ext cx="8936927" cy="1580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800" b="1" i="1" dirty="0" smtClean="0">
                <a:solidFill>
                  <a:schemeClr val="tx2">
                    <a:lumMod val="50000"/>
                  </a:schemeClr>
                </a:solidFill>
              </a:rPr>
              <a:t>Знаки соответствия в разных системах сертификации:</a:t>
            </a:r>
          </a:p>
          <a:p>
            <a:pPr marL="0" indent="0" algn="ctr">
              <a:buFont typeface="Arial" pitchFamily="34" charset="0"/>
              <a:buNone/>
            </a:pPr>
            <a:r>
              <a:rPr lang="ru-RU" sz="1800" b="1" i="1" dirty="0" smtClean="0">
                <a:solidFill>
                  <a:schemeClr val="tx2">
                    <a:lumMod val="50000"/>
                  </a:schemeClr>
                </a:solidFill>
              </a:rPr>
              <a:t>1 – знак соответствия системы менеджмента качества; 2 – знак соответствия системы добровольной сертификации; 3 –знак соответствия при обязательной сертификации; 4 – знак соответствия требованиям национального стандарта РФ </a:t>
            </a:r>
            <a:endParaRPr lang="ru-RU" sz="18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8633" y="4877408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1</a:t>
            </a:r>
            <a:endParaRPr lang="ru-RU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370939" y="4849231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1284" y="4821876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0298" y="4960551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595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406400"/>
            <a:ext cx="8229600" cy="990600"/>
          </a:xfrm>
        </p:spPr>
        <p:txBody>
          <a:bodyPr/>
          <a:lstStyle/>
          <a:p>
            <a:r>
              <a:rPr lang="ru-RU" dirty="0" smtClean="0"/>
              <a:t>Национальный знак соответствия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956" y="1346200"/>
            <a:ext cx="8229600" cy="1533702"/>
          </a:xfrm>
        </p:spPr>
        <p:txBody>
          <a:bodyPr/>
          <a:lstStyle/>
          <a:p>
            <a:r>
              <a:rPr lang="ru-RU" dirty="0"/>
              <a:t>з</a:t>
            </a:r>
            <a:r>
              <a:rPr lang="ru-RU" dirty="0" smtClean="0"/>
              <a:t>нак, подтверждающий  соответствие требованиям, установленным национальными стандартами или другими нормативными документами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53604" y="2879902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0" lvl="8" indent="-342900" algn="ctr">
              <a:buFont typeface="Wingdings" charset="2"/>
              <a:buChar char="Ø"/>
            </a:pPr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</a:rPr>
              <a:t>Знак соответствия разрешается использовать </a:t>
            </a:r>
          </a:p>
          <a:p>
            <a:pPr algn="ctr"/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</a:rPr>
              <a:t>для маркирования только сертифицированной продукции</a:t>
            </a:r>
            <a:endParaRPr lang="ru-RU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53191" y="1016000"/>
            <a:ext cx="0" cy="452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53191" y="4459111"/>
            <a:ext cx="930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53191" y="5545667"/>
            <a:ext cx="930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284111" y="3927501"/>
            <a:ext cx="4910667" cy="74788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284111" y="4909010"/>
            <a:ext cx="4910667" cy="9906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524000" y="4301446"/>
            <a:ext cx="4520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о</a:t>
            </a:r>
            <a:r>
              <a:rPr lang="ru-RU" sz="2000" b="1" dirty="0" smtClean="0"/>
              <a:t>бщие для всех видов продукции</a:t>
            </a:r>
            <a:endParaRPr lang="ru-RU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08359" y="5036501"/>
            <a:ext cx="4701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г</a:t>
            </a:r>
            <a:r>
              <a:rPr lang="ru-RU" sz="2000" b="1" dirty="0" smtClean="0"/>
              <a:t>рупповые </a:t>
            </a:r>
          </a:p>
          <a:p>
            <a:pPr algn="ctr"/>
            <a:r>
              <a:rPr lang="ru-RU" sz="2000" b="1" dirty="0" smtClean="0"/>
              <a:t>(для групп однородной продукции)</a:t>
            </a:r>
            <a:endParaRPr lang="ru-RU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67715" y="5899610"/>
            <a:ext cx="7341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i="1" dirty="0" smtClean="0">
                <a:solidFill>
                  <a:srgbClr val="0000FF"/>
                </a:solidFill>
              </a:rPr>
              <a:t>Источник: «Знаки соответствия стандартам» </a:t>
            </a:r>
          </a:p>
          <a:p>
            <a:r>
              <a:rPr lang="ru-RU" sz="2000" b="1" i="1" dirty="0" smtClean="0">
                <a:solidFill>
                  <a:srgbClr val="0000FF"/>
                </a:solidFill>
              </a:rPr>
              <a:t>Международная организация по стандартизации ИСО</a:t>
            </a:r>
            <a:r>
              <a:rPr lang="ru-RU" b="1" dirty="0" smtClean="0">
                <a:solidFill>
                  <a:srgbClr val="0000FF"/>
                </a:solidFill>
              </a:rPr>
              <a:t> </a:t>
            </a:r>
            <a:endParaRPr lang="ru-RU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83444" y="392289"/>
            <a:ext cx="8763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/>
              <a:t>H</a:t>
            </a:r>
            <a:r>
              <a:rPr lang="ru-RU" sz="3200" dirty="0" err="1" smtClean="0"/>
              <a:t>ациональные</a:t>
            </a:r>
            <a:r>
              <a:rPr lang="ru-RU" sz="3200" dirty="0" smtClean="0"/>
              <a:t> знаки соответствия зарубежных стран</a:t>
            </a:r>
            <a:endParaRPr lang="ru-RU" sz="3200" dirty="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contrast="43000"/>
                    </a14:imgEffect>
                  </a14:imgLayer>
                </a14:imgProps>
              </a:ext>
            </a:extLst>
          </a:blip>
          <a:srcRect t="-2" b="10426"/>
          <a:stretch/>
        </p:blipFill>
        <p:spPr>
          <a:xfrm>
            <a:off x="33866" y="1524000"/>
            <a:ext cx="7556500" cy="3412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3444" y="4936800"/>
            <a:ext cx="91667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</a:t>
            </a:r>
            <a:r>
              <a:rPr lang="ru-RU" dirty="0" smtClean="0"/>
              <a:t>национальный знак соответствия стандартам Германии для электрического и </a:t>
            </a:r>
          </a:p>
          <a:p>
            <a:r>
              <a:rPr lang="ru-RU" dirty="0" smtClean="0"/>
              <a:t>неэлектрического оборудования</a:t>
            </a:r>
            <a:r>
              <a:rPr lang="en-US" dirty="0" smtClean="0"/>
              <a:t>  </a:t>
            </a:r>
            <a:r>
              <a:rPr lang="ru-RU" dirty="0" smtClean="0"/>
              <a:t>(«</a:t>
            </a:r>
            <a:r>
              <a:rPr lang="en-US" dirty="0" smtClean="0"/>
              <a:t>DIN</a:t>
            </a:r>
            <a:r>
              <a:rPr lang="ru-RU" dirty="0" smtClean="0"/>
              <a:t>»);</a:t>
            </a:r>
          </a:p>
          <a:p>
            <a:r>
              <a:rPr lang="ru-RU" dirty="0" smtClean="0"/>
              <a:t>2- национальный знак стандартов безопасности Польши;</a:t>
            </a:r>
          </a:p>
          <a:p>
            <a:r>
              <a:rPr lang="ru-RU" dirty="0" smtClean="0"/>
              <a:t>3- знак соответствия австрийским стандартам </a:t>
            </a:r>
            <a:r>
              <a:rPr lang="ru-RU" dirty="0"/>
              <a:t>(</a:t>
            </a:r>
            <a:r>
              <a:rPr lang="ru-RU" dirty="0" smtClean="0"/>
              <a:t>«</a:t>
            </a:r>
            <a:r>
              <a:rPr lang="en-US" dirty="0" smtClean="0"/>
              <a:t>ONORM</a:t>
            </a:r>
            <a:r>
              <a:rPr lang="ru-RU" dirty="0" smtClean="0"/>
              <a:t>»</a:t>
            </a:r>
            <a:r>
              <a:rPr lang="ru-RU" dirty="0"/>
              <a:t>)</a:t>
            </a:r>
            <a:r>
              <a:rPr lang="ru-RU" dirty="0" smtClean="0"/>
              <a:t>;</a:t>
            </a:r>
            <a:endParaRPr lang="en-US" dirty="0" smtClean="0"/>
          </a:p>
          <a:p>
            <a:r>
              <a:rPr lang="en-US" dirty="0" smtClean="0"/>
              <a:t>4- </a:t>
            </a:r>
            <a:r>
              <a:rPr lang="ru-RU" dirty="0" smtClean="0"/>
              <a:t>знак для продовольственных товаров, сельскохозяйственной продукции Японии;</a:t>
            </a:r>
          </a:p>
          <a:p>
            <a:r>
              <a:rPr lang="ru-RU" dirty="0" smtClean="0"/>
              <a:t>5- знак для электрического и неэлектрического оборудования Франции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42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Транснациональные (региональные) знаки соответствия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8000"/>
            <a:ext cx="8229600" cy="860778"/>
          </a:xfrm>
        </p:spPr>
        <p:txBody>
          <a:bodyPr/>
          <a:lstStyle/>
          <a:p>
            <a:r>
              <a:rPr lang="ru-RU" dirty="0"/>
              <a:t>з</a:t>
            </a:r>
            <a:r>
              <a:rPr lang="ru-RU" dirty="0" smtClean="0"/>
              <a:t>наки, подтверждающие соответствие требованиям, установленными региональными стандартами и ТР </a:t>
            </a:r>
            <a:endParaRPr 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4000"/>
                    </a14:imgEffect>
                    <a14:imgEffect>
                      <a14:brightnessContrast contras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274" y="2798233"/>
            <a:ext cx="7856504" cy="190076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05556" y="4699000"/>
            <a:ext cx="777522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Транснациональные знаки соответствия: </a:t>
            </a:r>
            <a:endParaRPr lang="ru-RU" sz="2000" dirty="0" smtClean="0"/>
          </a:p>
          <a:p>
            <a:pPr algn="ctr"/>
            <a:r>
              <a:rPr lang="ru-RU" sz="2000" dirty="0" smtClean="0"/>
              <a:t>а </a:t>
            </a:r>
            <a:r>
              <a:rPr lang="ru-RU" sz="2000" dirty="0"/>
              <a:t>— знак Европейского комитета по стандартизации, </a:t>
            </a:r>
            <a:endParaRPr lang="ru-RU" sz="2000" dirty="0" smtClean="0"/>
          </a:p>
          <a:p>
            <a:pPr algn="ctr"/>
            <a:r>
              <a:rPr lang="ru-RU" sz="2000" dirty="0" smtClean="0"/>
              <a:t>б </a:t>
            </a:r>
            <a:r>
              <a:rPr lang="ru-RU" sz="2000" dirty="0"/>
              <a:t>— знак </a:t>
            </a:r>
            <a:r>
              <a:rPr lang="ru-RU" sz="2000" dirty="0" smtClean="0"/>
              <a:t>Европейской </a:t>
            </a:r>
            <a:r>
              <a:rPr lang="ru-RU" sz="2000" dirty="0"/>
              <a:t>электротехнической комиссии; </a:t>
            </a:r>
            <a:endParaRPr lang="ru-RU" sz="2000" dirty="0" smtClean="0"/>
          </a:p>
          <a:p>
            <a:pPr algn="ctr"/>
            <a:r>
              <a:rPr lang="ru-RU" sz="2000" dirty="0" smtClean="0"/>
              <a:t>в </a:t>
            </a:r>
            <a:r>
              <a:rPr lang="ru-RU" sz="2000" dirty="0"/>
              <a:t>— знак соответствия </a:t>
            </a:r>
            <a:r>
              <a:rPr lang="ru-RU" sz="2000" dirty="0" smtClean="0"/>
              <a:t>Европейским </a:t>
            </a:r>
            <a:r>
              <a:rPr lang="ru-RU" sz="2000" dirty="0"/>
              <a:t>нормам стран — членов ЕС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1899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5" y="1377245"/>
            <a:ext cx="3405011" cy="3223630"/>
          </a:xfrm>
          <a:prstGeom prst="rect">
            <a:avLst/>
          </a:prstGeom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0155" y="4377267"/>
            <a:ext cx="8229600" cy="89746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Единый знак обращения продукции на рынке государств – членов Таможенного союза</a:t>
            </a:r>
            <a:endParaRPr lang="ru-RU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55" y="1588912"/>
            <a:ext cx="2952385" cy="2545644"/>
          </a:xfrm>
          <a:prstGeom prst="rect">
            <a:avLst/>
          </a:prstGeom>
        </p:spPr>
      </p:pic>
      <p:sp>
        <p:nvSpPr>
          <p:cNvPr id="6" name="Название 1"/>
          <p:cNvSpPr>
            <a:spLocks noGrp="1"/>
          </p:cNvSpPr>
          <p:nvPr>
            <p:ph type="title"/>
          </p:nvPr>
        </p:nvSpPr>
        <p:spPr>
          <a:xfrm>
            <a:off x="457200" y="386645"/>
            <a:ext cx="8229600" cy="990600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latin typeface="+mn-lt"/>
              </a:rPr>
              <a:t>Пример транснационального (регионального) знака соответствия</a:t>
            </a:r>
            <a:endParaRPr lang="ru-RU" sz="2800" i="1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45" y="5359780"/>
            <a:ext cx="9123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Wingdings" charset="2"/>
              <a:buChar char="Ø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</a:rPr>
              <a:t>Утвержден решение Комиссии Таможенного союза от 15 июля 2011 г. № 711</a:t>
            </a:r>
          </a:p>
          <a:p>
            <a:pPr algn="ctr"/>
            <a:r>
              <a:rPr lang="ru-RU" b="1" dirty="0" smtClean="0">
                <a:solidFill>
                  <a:schemeClr val="tx2">
                    <a:lumMod val="50000"/>
                  </a:schemeClr>
                </a:solidFill>
              </a:rPr>
              <a:t>«О едином знаке обращения продукции на рынке государств – членов </a:t>
            </a:r>
          </a:p>
          <a:p>
            <a:pPr algn="ctr"/>
            <a:r>
              <a:rPr lang="ru-RU" b="1" dirty="0" smtClean="0">
                <a:solidFill>
                  <a:schemeClr val="tx2">
                    <a:lumMod val="50000"/>
                  </a:schemeClr>
                </a:solidFill>
              </a:rPr>
              <a:t>Таможенного союза»</a:t>
            </a:r>
            <a:endParaRPr lang="ru-RU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73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14867" y="115712"/>
            <a:ext cx="8229600" cy="990600"/>
          </a:xfrm>
        </p:spPr>
        <p:txBody>
          <a:bodyPr/>
          <a:lstStyle/>
          <a:p>
            <a:r>
              <a:rPr lang="ru-RU" dirty="0" smtClean="0"/>
              <a:t>Знаки качества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14867" y="979311"/>
            <a:ext cx="8229600" cy="174413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ru-RU" dirty="0"/>
              <a:t>з</a:t>
            </a:r>
            <a:r>
              <a:rPr lang="ru-RU" dirty="0" smtClean="0"/>
              <a:t>нак, подтверждающий качество продукции, который может присваиваться не только органами по сертификации, но и другими организациями, не входящими в национальную система сертификации</a:t>
            </a:r>
            <a:endParaRPr 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144" y="3153452"/>
            <a:ext cx="2013656" cy="2013656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444" y="3457221"/>
            <a:ext cx="2949223" cy="2949223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524" y="2726971"/>
            <a:ext cx="2087863" cy="1633362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46000"/>
                    </a14:imgEffect>
                    <a14:imgEffect>
                      <a14:brightnessContrast contras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2111" y="2723444"/>
            <a:ext cx="2060222" cy="20602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6666" y="441433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1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232399" y="478366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574843" y="517698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4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833510" y="5361650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2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14191" y="5730982"/>
            <a:ext cx="80218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 smtClean="0"/>
              <a:t>Знаки качества разных стран:</a:t>
            </a:r>
          </a:p>
          <a:p>
            <a:pPr algn="ctr"/>
            <a:r>
              <a:rPr lang="ru-RU" b="1" dirty="0" smtClean="0"/>
              <a:t>1 – США; 2 – Австрия; 3 – знак качества «Российская марка»; </a:t>
            </a:r>
          </a:p>
          <a:p>
            <a:pPr algn="ctr"/>
            <a:r>
              <a:rPr lang="ru-RU" b="1" dirty="0" smtClean="0"/>
              <a:t>4 – «Всероссийская марка (</a:t>
            </a:r>
            <a:r>
              <a:rPr lang="en-US" b="1" dirty="0" smtClean="0"/>
              <a:t>III </a:t>
            </a:r>
            <a:r>
              <a:rPr lang="ru-RU" b="1" dirty="0" smtClean="0"/>
              <a:t>тысячелетие). Знак качества </a:t>
            </a:r>
            <a:r>
              <a:rPr lang="en-US" b="1" dirty="0" smtClean="0"/>
              <a:t>XXI </a:t>
            </a:r>
            <a:r>
              <a:rPr lang="ru-RU" b="1" dirty="0" smtClean="0"/>
              <a:t>века»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2298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349956"/>
            <a:ext cx="8229600" cy="990600"/>
          </a:xfrm>
        </p:spPr>
        <p:txBody>
          <a:bodyPr>
            <a:noAutofit/>
          </a:bodyPr>
          <a:lstStyle/>
          <a:p>
            <a:r>
              <a:rPr lang="ru-RU" sz="3200" dirty="0" smtClean="0"/>
              <a:t>Конкурсы и премии на присвоение права маркировать товары знаком качества: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Премия Правительства РФ в области качества;</a:t>
            </a:r>
          </a:p>
          <a:p>
            <a:r>
              <a:rPr lang="ru-RU" dirty="0" smtClean="0"/>
              <a:t>Программа «100 лучших товаров России»;</a:t>
            </a:r>
          </a:p>
          <a:p>
            <a:r>
              <a:rPr lang="ru-RU" dirty="0" smtClean="0"/>
              <a:t>Первая национальная Программа продвижения российских товаров, услуг и технологий «Российская марка»;</a:t>
            </a:r>
            <a:r>
              <a:rPr lang="ru-RU" b="1" dirty="0"/>
              <a:t> </a:t>
            </a:r>
            <a:endParaRPr lang="ru-RU" b="1" dirty="0" smtClean="0"/>
          </a:p>
          <a:p>
            <a:r>
              <a:rPr lang="ru-RU" dirty="0" smtClean="0"/>
              <a:t>Программа «</a:t>
            </a:r>
            <a:r>
              <a:rPr lang="ru-RU" dirty="0"/>
              <a:t>Всероссийская марка (</a:t>
            </a:r>
            <a:r>
              <a:rPr lang="en-US" dirty="0"/>
              <a:t>III </a:t>
            </a:r>
            <a:r>
              <a:rPr lang="ru-RU" dirty="0"/>
              <a:t>тысячелетие). Знак качества </a:t>
            </a:r>
            <a:r>
              <a:rPr lang="en-US" dirty="0"/>
              <a:t>XXI </a:t>
            </a:r>
            <a:r>
              <a:rPr lang="ru-RU" dirty="0"/>
              <a:t>века</a:t>
            </a:r>
            <a:r>
              <a:rPr lang="ru-RU" dirty="0" smtClean="0"/>
              <a:t>»;</a:t>
            </a:r>
          </a:p>
          <a:p>
            <a:r>
              <a:rPr lang="ru-RU" dirty="0" smtClean="0"/>
              <a:t>Всероссийская межотраслевая выставка отечественных товаров «Покупайте российское»;</a:t>
            </a:r>
          </a:p>
          <a:p>
            <a:r>
              <a:rPr lang="ru-RU" dirty="0" smtClean="0"/>
              <a:t>Национальный конкурс на лучшую парфюмерно – косметическую продукцию года;</a:t>
            </a:r>
          </a:p>
          <a:p>
            <a:r>
              <a:rPr lang="ru-RU" dirty="0" smtClean="0"/>
              <a:t> Знак «ПРОВЕРЕНО» (Союз потребителей России);</a:t>
            </a:r>
          </a:p>
          <a:p>
            <a:r>
              <a:rPr lang="ru-RU" dirty="0" smtClean="0"/>
              <a:t>Национальные конкурсы марочных товаров «Народная марка» и «Бренд года» и другие</a:t>
            </a:r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46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3000"/>
                    </a14:imgEffect>
                    <a14:imgEffect>
                      <a14:brightnessContrast contras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633" y="423333"/>
            <a:ext cx="4542875" cy="6434667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444" y="2949222"/>
            <a:ext cx="2794000" cy="278130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0444" y="636411"/>
            <a:ext cx="2862390" cy="2312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81618" y="6164056"/>
            <a:ext cx="3409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Российские знаки качества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5484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Ясность.thmx</Template>
  <TotalTime>162</TotalTime>
  <Words>511</Words>
  <Application>Microsoft Macintosh PowerPoint</Application>
  <PresentationFormat>Экран (4:3)</PresentationFormat>
  <Paragraphs>65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Ясность</vt:lpstr>
      <vt:lpstr>Информационные знаки (продолжение)</vt:lpstr>
      <vt:lpstr>Знаки соответствия и обращения на рынке</vt:lpstr>
      <vt:lpstr>Презентация PowerPoint</vt:lpstr>
      <vt:lpstr>Национальный знак соответствия</vt:lpstr>
      <vt:lpstr>Hациональные знаки соответствия зарубежных стран</vt:lpstr>
      <vt:lpstr>Транснациональные (региональные) знаки соответствия</vt:lpstr>
      <vt:lpstr>Пример транснационального (регионального) знака соответствия</vt:lpstr>
      <vt:lpstr>Знаки качества</vt:lpstr>
      <vt:lpstr>Конкурсы и премии на присвоение права маркировать товары знаком качества:</vt:lpstr>
      <vt:lpstr>Презентация PowerPoint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Информационные знаки (продолжение)</dc:title>
  <dc:creator>Валерия 1</dc:creator>
  <cp:lastModifiedBy>Валерия 1</cp:lastModifiedBy>
  <cp:revision>49</cp:revision>
  <dcterms:created xsi:type="dcterms:W3CDTF">2016-11-14T20:06:48Z</dcterms:created>
  <dcterms:modified xsi:type="dcterms:W3CDTF">2016-11-15T16:36:42Z</dcterms:modified>
</cp:coreProperties>
</file>