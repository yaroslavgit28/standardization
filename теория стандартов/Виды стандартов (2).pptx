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6858000" cy="12192000"/>
  <p:embeddedFontLst>
    <p:embeddedFont>
      <p:font typeface="Calibri" panose="020F0502020204030204" pitchFamily="34" charset="0"/>
      <p:regular r:id="rId35"/>
      <p:bold r:id="rId36"/>
      <p:italic r:id="rId37"/>
      <p:boldItalic r:id="rId38"/>
    </p:embeddedFont>
    <p:embeddedFont>
      <p:font typeface="DM Sans" panose="020B0604020202020204" charset="0"/>
      <p:regular r:id="rId39"/>
    </p:embeddedFont>
    <p:embeddedFont>
      <p:font typeface="DM Sans Bold" panose="020B0604020202020204" charset="0"/>
      <p:regular r:id="rId40"/>
    </p:embeddedFont>
    <p:embeddedFont>
      <p:font typeface="DM Sans SemiBold" panose="020B0604020202020204" charset="0"/>
      <p:regular r:id="rId4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53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5.fntdata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4.fntdata"/><Relationship Id="rId20" Type="http://schemas.openxmlformats.org/officeDocument/2006/relationships/slide" Target="slides/slide19.xml"/><Relationship Id="rId41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4472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jpe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svg"/><Relationship Id="rId5" Type="http://schemas.openxmlformats.org/officeDocument/2006/relationships/image" Target="../media/image7.sv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jpeg"/><Relationship Id="rId7" Type="http://schemas.openxmlformats.org/officeDocument/2006/relationships/image" Target="../media/image23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27.svg"/><Relationship Id="rId5" Type="http://schemas.openxmlformats.org/officeDocument/2006/relationships/image" Target="../media/image21.sv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sv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35.svg"/><Relationship Id="rId9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523629"/>
            <a:ext cx="6296860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25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Техническое регулирование и стандартизация в области ИКТ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661475" y="3805138"/>
            <a:ext cx="6296860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Правовые механизмы, обязательные требования, стандарты и практика их применения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91841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Правовое регулирование безопасности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239268"/>
            <a:ext cx="10868745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Техническое регулирование — это правовое регулирование отношений в области установления, применения и исполнения обязательных требований к продукции и процессам. Главный нормативный акт — </a:t>
            </a:r>
            <a:r>
              <a:rPr lang="en-US" sz="1300" b="1" dirty="0">
                <a:solidFill>
                  <a:srgbClr val="4A4A4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Федеральный закон № 184-ФЗ «О техническом регулировании»</a:t>
            </a: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(принят в 2002 году).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2415" y="3219152"/>
            <a:ext cx="5470785" cy="1531739"/>
          </a:xfrm>
          <a:prstGeom prst="roundRect">
            <a:avLst>
              <a:gd name="adj" fmla="val 15549"/>
            </a:avLst>
          </a:prstGeom>
          <a:solidFill>
            <a:srgbClr val="FFC7CD"/>
          </a:solidFill>
          <a:ln/>
        </p:spPr>
      </p:sp>
      <p:sp>
        <p:nvSpPr>
          <p:cNvPr id="5" name="Text 3"/>
          <p:cNvSpPr/>
          <p:nvPr/>
        </p:nvSpPr>
        <p:spPr>
          <a:xfrm>
            <a:off x="707710" y="3384451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Техническое регулирование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07710" y="3808214"/>
            <a:ext cx="5140196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4A4A4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Обязательно.</a:t>
            </a: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Устанавливает минимальные требования безопасности к продукции. Нарушение влечёт юридическую ответственность.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03904" y="3384451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Стандартизация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03904" y="3808214"/>
            <a:ext cx="5232666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4A4A4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Добровольна.</a:t>
            </a: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Регулирует качество и совместимость продукции. Стандарты применяются по выбору производителя или требованию контракта.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1475" y="4936927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Ключевым инструментом технического регулирования является </a:t>
            </a:r>
            <a:r>
              <a:rPr lang="en-US" sz="1300" b="1" dirty="0">
                <a:solidFill>
                  <a:srgbClr val="4A4A4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технический регламент</a:t>
            </a: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документ, устанавливающий обязательные требования к объектам регулирования.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0012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От ГОСТов СССР к современной системе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417439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Российская система технического регулирования прошла путь от жёсткой административной модели к гибкой рыночной, ориентированной на интеграцию с международными стандартами.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4210348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E5B2B7"/>
          </a:solidFill>
          <a:ln/>
        </p:spPr>
      </p:sp>
      <p:sp>
        <p:nvSpPr>
          <p:cNvPr id="5" name="Shape 3"/>
          <p:cNvSpPr/>
          <p:nvPr/>
        </p:nvSpPr>
        <p:spPr>
          <a:xfrm>
            <a:off x="2394485" y="3714254"/>
            <a:ext cx="19050" cy="496094"/>
          </a:xfrm>
          <a:prstGeom prst="roundRect">
            <a:avLst>
              <a:gd name="adj" fmla="val 49999"/>
            </a:avLst>
          </a:prstGeom>
          <a:solidFill>
            <a:srgbClr val="E5B2B7"/>
          </a:solidFill>
          <a:ln/>
        </p:spPr>
      </p:sp>
      <p:sp>
        <p:nvSpPr>
          <p:cNvPr id="6" name="Shape 4"/>
          <p:cNvSpPr/>
          <p:nvPr/>
        </p:nvSpPr>
        <p:spPr>
          <a:xfrm>
            <a:off x="2217980" y="4024313"/>
            <a:ext cx="372061" cy="372070"/>
          </a:xfrm>
          <a:prstGeom prst="roundRect">
            <a:avLst>
              <a:gd name="adj" fmla="val 40007"/>
            </a:avLst>
          </a:prstGeom>
          <a:solidFill>
            <a:srgbClr val="FFCCD1"/>
          </a:solidFill>
          <a:ln w="6350">
            <a:solidFill>
              <a:srgbClr val="E5B2B7"/>
            </a:solidFill>
            <a:prstDash val="solid"/>
          </a:ln>
          <a:effectLst>
            <a:outerShdw blurRad="127" dist="21590" dir="2700000" algn="bl" rotWithShape="0">
              <a:srgbClr val="E5B2B7">
                <a:alpha val="10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79990" y="4055318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1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826769" y="2132707"/>
            <a:ext cx="315448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До 1991 г.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6769" y="2490391"/>
            <a:ext cx="3154482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Государственная система стандартизации СССР. Все ГОСТы — обязательны к исполнению.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40305" y="4210348"/>
            <a:ext cx="19050" cy="496094"/>
          </a:xfrm>
          <a:prstGeom prst="roundRect">
            <a:avLst>
              <a:gd name="adj" fmla="val 49999"/>
            </a:avLst>
          </a:prstGeom>
          <a:solidFill>
            <a:srgbClr val="E5B2B7"/>
          </a:solidFill>
          <a:ln/>
        </p:spPr>
      </p:sp>
      <p:sp>
        <p:nvSpPr>
          <p:cNvPr id="11" name="Shape 9"/>
          <p:cNvSpPr/>
          <p:nvPr/>
        </p:nvSpPr>
        <p:spPr>
          <a:xfrm>
            <a:off x="4063799" y="4024313"/>
            <a:ext cx="372061" cy="372070"/>
          </a:xfrm>
          <a:prstGeom prst="roundRect">
            <a:avLst>
              <a:gd name="adj" fmla="val 40007"/>
            </a:avLst>
          </a:prstGeom>
          <a:solidFill>
            <a:srgbClr val="FFCCD1"/>
          </a:solidFill>
          <a:ln w="6350">
            <a:solidFill>
              <a:srgbClr val="E5B2B7"/>
            </a:solidFill>
            <a:prstDash val="solid"/>
          </a:ln>
          <a:effectLst>
            <a:outerShdw blurRad="127" dist="21590" dir="2700000" algn="bl" rotWithShape="0">
              <a:srgbClr val="E5B2B7">
                <a:alpha val="10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125809" y="4055318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2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2672589" y="4871839"/>
            <a:ext cx="315458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1992–2002 гг.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72589" y="5229523"/>
            <a:ext cx="3154581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Переходный период. Формирование национальной системы стандартизации в условиях рыночной экономики.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86224" y="3714254"/>
            <a:ext cx="19050" cy="496094"/>
          </a:xfrm>
          <a:prstGeom prst="roundRect">
            <a:avLst>
              <a:gd name="adj" fmla="val 49999"/>
            </a:avLst>
          </a:prstGeom>
          <a:solidFill>
            <a:srgbClr val="E5B2B7"/>
          </a:solidFill>
          <a:ln/>
        </p:spPr>
      </p:sp>
      <p:sp>
        <p:nvSpPr>
          <p:cNvPr id="16" name="Shape 14"/>
          <p:cNvSpPr/>
          <p:nvPr/>
        </p:nvSpPr>
        <p:spPr>
          <a:xfrm>
            <a:off x="5909718" y="4024313"/>
            <a:ext cx="372061" cy="372070"/>
          </a:xfrm>
          <a:prstGeom prst="roundRect">
            <a:avLst>
              <a:gd name="adj" fmla="val 40007"/>
            </a:avLst>
          </a:prstGeom>
          <a:solidFill>
            <a:srgbClr val="FFCCD1"/>
          </a:solidFill>
          <a:ln w="6350">
            <a:solidFill>
              <a:srgbClr val="E5B2B7"/>
            </a:solidFill>
            <a:prstDash val="solid"/>
          </a:ln>
          <a:effectLst>
            <a:outerShdw blurRad="127" dist="21590" dir="2700000" algn="bl" rotWithShape="0">
              <a:srgbClr val="E5B2B7">
                <a:alpha val="10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971728" y="4055318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3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4518507" y="2132707"/>
            <a:ext cx="315458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2002 г.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18507" y="2490391"/>
            <a:ext cx="3154581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Принятие ФЗ № 184-ФЗ. Разделение обязательных (регламенты) и добровольных (стандарты) требований.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932142" y="4210348"/>
            <a:ext cx="19050" cy="496094"/>
          </a:xfrm>
          <a:prstGeom prst="roundRect">
            <a:avLst>
              <a:gd name="adj" fmla="val 49999"/>
            </a:avLst>
          </a:prstGeom>
          <a:solidFill>
            <a:srgbClr val="E5B2B7"/>
          </a:solidFill>
          <a:ln/>
        </p:spPr>
      </p:sp>
      <p:sp>
        <p:nvSpPr>
          <p:cNvPr id="21" name="Shape 19"/>
          <p:cNvSpPr/>
          <p:nvPr/>
        </p:nvSpPr>
        <p:spPr>
          <a:xfrm>
            <a:off x="7755636" y="4024313"/>
            <a:ext cx="372061" cy="372070"/>
          </a:xfrm>
          <a:prstGeom prst="roundRect">
            <a:avLst>
              <a:gd name="adj" fmla="val 40007"/>
            </a:avLst>
          </a:prstGeom>
          <a:solidFill>
            <a:srgbClr val="FFCCD1"/>
          </a:solidFill>
          <a:ln w="6350">
            <a:solidFill>
              <a:srgbClr val="E5B2B7"/>
            </a:solidFill>
            <a:prstDash val="solid"/>
          </a:ln>
          <a:effectLst>
            <a:outerShdw blurRad="127" dist="21590" dir="2700000" algn="bl" rotWithShape="0">
              <a:srgbClr val="E5B2B7">
                <a:alpha val="10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817647" y="4055318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4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6364426" y="4871839"/>
            <a:ext cx="315458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2015 г.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64426" y="5229523"/>
            <a:ext cx="3154581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Принятие ФЗ № 162-ФЗ «О стандартизации». Цифровизация и обновление системы.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778061" y="3714254"/>
            <a:ext cx="19050" cy="496094"/>
          </a:xfrm>
          <a:prstGeom prst="roundRect">
            <a:avLst>
              <a:gd name="adj" fmla="val 49999"/>
            </a:avLst>
          </a:prstGeom>
          <a:solidFill>
            <a:srgbClr val="E5B2B7"/>
          </a:solidFill>
          <a:ln/>
        </p:spPr>
      </p:sp>
      <p:sp>
        <p:nvSpPr>
          <p:cNvPr id="26" name="Shape 24"/>
          <p:cNvSpPr/>
          <p:nvPr/>
        </p:nvSpPr>
        <p:spPr>
          <a:xfrm>
            <a:off x="9601555" y="4024313"/>
            <a:ext cx="372061" cy="372070"/>
          </a:xfrm>
          <a:prstGeom prst="roundRect">
            <a:avLst>
              <a:gd name="adj" fmla="val 40007"/>
            </a:avLst>
          </a:prstGeom>
          <a:solidFill>
            <a:srgbClr val="FFCCD1"/>
          </a:solidFill>
          <a:ln w="6350">
            <a:solidFill>
              <a:srgbClr val="E5B2B7"/>
            </a:solidFill>
            <a:prstDash val="solid"/>
          </a:ln>
          <a:effectLst>
            <a:outerShdw blurRad="127" dist="21590" dir="2700000" algn="bl" rotWithShape="0">
              <a:srgbClr val="E5B2B7">
                <a:alpha val="10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663565" y="4055318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5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8210345" y="2132707"/>
            <a:ext cx="315458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Настоящее время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210345" y="2490391"/>
            <a:ext cx="3154581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Гармонизация с ЕАЭС, активная цифровизация стандартов и развитие национальной базы.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82613"/>
            <a:ext cx="6296860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Документы обязательного исполнения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5233360" y="1864122"/>
            <a:ext cx="6296860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4A4A4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Технический регламент</a:t>
            </a: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нормативный документ, устанавливающий обязательные требования к объектам технического регулирования. По юридической силе приравнивается к федеральному закону.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114301" y="2844006"/>
            <a:ext cx="3184842" cy="2054820"/>
          </a:xfrm>
          <a:prstGeom prst="roundRect">
            <a:avLst>
              <a:gd name="adj" fmla="val 11590"/>
            </a:avLst>
          </a:prstGeom>
          <a:solidFill>
            <a:srgbClr val="FFC7CD"/>
          </a:solidFill>
          <a:ln/>
        </p:spPr>
      </p:sp>
      <p:sp>
        <p:nvSpPr>
          <p:cNvPr id="6" name="Text 3"/>
          <p:cNvSpPr/>
          <p:nvPr/>
        </p:nvSpPr>
        <p:spPr>
          <a:xfrm>
            <a:off x="5279595" y="3009305"/>
            <a:ext cx="285425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Национальные регламенты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279595" y="3433068"/>
            <a:ext cx="2854254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Принимаются федеральным законом или постановлением Правительства РФ. Действуют только на территории России.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589847" y="3009305"/>
            <a:ext cx="2946723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Наднациональные (ТР ТС / ЕАЭС)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589847" y="3691533"/>
            <a:ext cx="2946723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Технические регламенты Таможенного союза. Действуют на всей территории стран ЕАЭС без дополнительной ратификации.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233360" y="5084862"/>
            <a:ext cx="6296860" cy="1190526"/>
          </a:xfrm>
          <a:prstGeom prst="roundRect">
            <a:avLst>
              <a:gd name="adj" fmla="val 12503"/>
            </a:avLst>
          </a:prstGeom>
          <a:solidFill>
            <a:srgbClr val="FFCCD1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8655" y="5324574"/>
            <a:ext cx="206667" cy="16529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770617" y="5291435"/>
            <a:ext cx="5594309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Цель технических регламентов — установить минимально необходимые требования безопасности, не ограничивая инновации.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99257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Единые требования для ЕАЭС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046684"/>
            <a:ext cx="10868745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Технические регламенты Таможенного союза (ТР ТС) действуют на территории всех стран Евразийского экономического союза: России, Беларуси, Казахстана, Армении и Кыргызстана. Это устраняет необходимость двойной сертификации и снижает барьеры в торговле.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3026569"/>
            <a:ext cx="3512653" cy="1784846"/>
          </a:xfrm>
          <a:prstGeom prst="roundRect">
            <a:avLst>
              <a:gd name="adj" fmla="val 8340"/>
            </a:avLst>
          </a:prstGeom>
          <a:solidFill>
            <a:srgbClr val="FFFFFF"/>
          </a:solidFill>
          <a:ln w="19050">
            <a:solidFill>
              <a:srgbClr val="E5B2B7"/>
            </a:solidFill>
            <a:prstDash val="solid"/>
          </a:ln>
          <a:effectLst>
            <a:outerShdw blurRad="127" dist="21590" dir="2700000" algn="bl" rotWithShape="0">
              <a:srgbClr val="E5B2B7">
                <a:alpha val="1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5819" y="3210917"/>
            <a:ext cx="314396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ТР ТС 004/2011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45819" y="3568601"/>
            <a:ext cx="3143965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О безопасности низковольтного оборудования. Распространяется на серверы, ПК, источники питания.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39422" y="3026569"/>
            <a:ext cx="3512752" cy="1784846"/>
          </a:xfrm>
          <a:prstGeom prst="roundRect">
            <a:avLst>
              <a:gd name="adj" fmla="val 8340"/>
            </a:avLst>
          </a:prstGeom>
          <a:solidFill>
            <a:srgbClr val="FFFFFF"/>
          </a:solidFill>
          <a:ln w="19050">
            <a:solidFill>
              <a:srgbClr val="E5B2B7"/>
            </a:solidFill>
            <a:prstDash val="solid"/>
          </a:ln>
          <a:effectLst>
            <a:outerShdw blurRad="127" dist="21590" dir="2700000" algn="bl" rotWithShape="0">
              <a:srgbClr val="E5B2B7">
                <a:alpha val="10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23766" y="3210917"/>
            <a:ext cx="314406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ТР ТС 020/2011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23766" y="3568601"/>
            <a:ext cx="3144064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Электромагнитная совместимость технических средств. Актуален для всего активного сетевого оборудования.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17468" y="3026569"/>
            <a:ext cx="3512653" cy="1784846"/>
          </a:xfrm>
          <a:prstGeom prst="roundRect">
            <a:avLst>
              <a:gd name="adj" fmla="val 8340"/>
            </a:avLst>
          </a:prstGeom>
          <a:solidFill>
            <a:srgbClr val="FFFFFF"/>
          </a:solidFill>
          <a:ln w="19050">
            <a:solidFill>
              <a:srgbClr val="E5B2B7"/>
            </a:solidFill>
            <a:prstDash val="solid"/>
          </a:ln>
          <a:effectLst>
            <a:outerShdw blurRad="127" dist="21590" dir="2700000" algn="bl" rotWithShape="0">
              <a:srgbClr val="E5B2B7">
                <a:alpha val="10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01812" y="3210917"/>
            <a:ext cx="314396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ТР ТС 021/2011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01812" y="3568601"/>
            <a:ext cx="3143965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О безопасности пищевой продукции. Пример регламента за пределами ИКТ, но иллюстрирующего охват системы.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61475" y="4997450"/>
            <a:ext cx="10868745" cy="661293"/>
          </a:xfrm>
          <a:prstGeom prst="roundRect">
            <a:avLst>
              <a:gd name="adj" fmla="val 22509"/>
            </a:avLst>
          </a:prstGeom>
          <a:solidFill>
            <a:srgbClr val="FFCCD1"/>
          </a:solidFill>
          <a:ln/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69" y="5237163"/>
            <a:ext cx="206667" cy="16529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198731" y="5204023"/>
            <a:ext cx="1077578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Для IT: серверы, ПК и сетевое оборудование в обязательном порядке подпадают под ТР ТС 004 и ТР ТС 020.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38486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Из чего состоит технический регламент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385913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Каждый технический регламент имеет строго определённую структуру. Важно понимать, что регламент </a:t>
            </a:r>
            <a:r>
              <a:rPr lang="en-US" sz="1300" b="1" dirty="0">
                <a:solidFill>
                  <a:srgbClr val="4A4A4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не содержит конкретных технических решений</a:t>
            </a: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он ссылается на стандарты как на доказательную базу соответствия.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3101181"/>
            <a:ext cx="372061" cy="372070"/>
          </a:xfrm>
          <a:prstGeom prst="roundRect">
            <a:avLst>
              <a:gd name="adj" fmla="val 40007"/>
            </a:avLst>
          </a:prstGeom>
          <a:solidFill>
            <a:srgbClr val="FFCCD1"/>
          </a:solidFill>
          <a:ln w="6350">
            <a:solidFill>
              <a:srgbClr val="E5B2B7"/>
            </a:solidFill>
            <a:prstDash val="solid"/>
          </a:ln>
          <a:effectLst>
            <a:outerShdw blurRad="127" dist="21590" dir="2700000" algn="bl" rotWithShape="0">
              <a:srgbClr val="E5B2B7">
                <a:alpha val="1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23485" y="3132187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1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198830" y="3158034"/>
            <a:ext cx="479363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Область применения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98830" y="3515717"/>
            <a:ext cx="4793634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Перечень объектов, на которые распространяется регламент.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99132" y="3101181"/>
            <a:ext cx="372061" cy="372070"/>
          </a:xfrm>
          <a:prstGeom prst="roundRect">
            <a:avLst>
              <a:gd name="adj" fmla="val 40007"/>
            </a:avLst>
          </a:prstGeom>
          <a:solidFill>
            <a:srgbClr val="FFCCD1"/>
          </a:solidFill>
          <a:ln w="6350">
            <a:solidFill>
              <a:srgbClr val="E5B2B7"/>
            </a:solidFill>
            <a:prstDash val="solid"/>
          </a:ln>
          <a:effectLst>
            <a:outerShdw blurRad="127" dist="21590" dir="2700000" algn="bl" rotWithShape="0">
              <a:srgbClr val="E5B2B7">
                <a:alpha val="10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261142" y="3132187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2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6736487" y="3158034"/>
            <a:ext cx="4793733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Основные понятия и требования безопасности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36487" y="3774182"/>
            <a:ext cx="4793733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Термины, определения и суть обязательных требований.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61475" y="4375646"/>
            <a:ext cx="372061" cy="372070"/>
          </a:xfrm>
          <a:prstGeom prst="roundRect">
            <a:avLst>
              <a:gd name="adj" fmla="val 40007"/>
            </a:avLst>
          </a:prstGeom>
          <a:solidFill>
            <a:srgbClr val="FFCCD1"/>
          </a:solidFill>
          <a:ln w="6350">
            <a:solidFill>
              <a:srgbClr val="E5B2B7"/>
            </a:solidFill>
            <a:prstDash val="solid"/>
          </a:ln>
          <a:effectLst>
            <a:outerShdw blurRad="127" dist="21590" dir="2700000" algn="bl" rotWithShape="0">
              <a:srgbClr val="E5B2B7">
                <a:alpha val="10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23485" y="4406652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3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198830" y="4432498"/>
            <a:ext cx="479363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Формы оценки соответствия и маркировка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98830" y="4790182"/>
            <a:ext cx="4793634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Сертификация или декларирование, знак обращения на рынке (ЕАС).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99132" y="4375646"/>
            <a:ext cx="372061" cy="372070"/>
          </a:xfrm>
          <a:prstGeom prst="roundRect">
            <a:avLst>
              <a:gd name="adj" fmla="val 40007"/>
            </a:avLst>
          </a:prstGeom>
          <a:solidFill>
            <a:srgbClr val="FFCCD1"/>
          </a:solidFill>
          <a:ln w="6350">
            <a:solidFill>
              <a:srgbClr val="E5B2B7"/>
            </a:solidFill>
            <a:prstDash val="solid"/>
          </a:ln>
          <a:effectLst>
            <a:outerShdw blurRad="127" dist="21590" dir="2700000" algn="bl" rotWithShape="0">
              <a:srgbClr val="E5B2B7">
                <a:alpha val="10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61142" y="4406652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4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6736487" y="4432498"/>
            <a:ext cx="479373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Переходные положения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736487" y="4790182"/>
            <a:ext cx="4793733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Сроки вступления в силу и порядок перехода от старых требований.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77106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Чем IT отличается от традиционного производства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824534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Сфера ИКТ обладает уникальными характеристиками, которые существенно усложняют применение стандартных механизмов технического регулирования.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2539802"/>
            <a:ext cx="5351725" cy="1230213"/>
          </a:xfrm>
          <a:prstGeom prst="roundRect">
            <a:avLst>
              <a:gd name="adj" fmla="val 12100"/>
            </a:avLst>
          </a:prstGeom>
          <a:solidFill>
            <a:srgbClr val="FFCCD1"/>
          </a:solidFill>
          <a:ln w="6350">
            <a:solidFill>
              <a:srgbClr val="E5B2B7"/>
            </a:solidFill>
            <a:prstDash val="solid"/>
          </a:ln>
          <a:effectLst>
            <a:outerShdw blurRad="127" dist="21590" dir="2700000" algn="bl" rotWithShape="0">
              <a:srgbClr val="E5B2B7">
                <a:alpha val="1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33119" y="2711450"/>
            <a:ext cx="500843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Нематериальность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33119" y="3069134"/>
            <a:ext cx="5008437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Программный код нельзя «взвесить» или измерить традиционными методами.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8495" y="2539802"/>
            <a:ext cx="5351725" cy="1230213"/>
          </a:xfrm>
          <a:prstGeom prst="roundRect">
            <a:avLst>
              <a:gd name="adj" fmla="val 12100"/>
            </a:avLst>
          </a:prstGeom>
          <a:solidFill>
            <a:srgbClr val="FFCCD1"/>
          </a:solidFill>
          <a:ln w="6350">
            <a:solidFill>
              <a:srgbClr val="E5B2B7"/>
            </a:solidFill>
            <a:prstDash val="solid"/>
          </a:ln>
          <a:effectLst>
            <a:outerShdw blurRad="127" dist="21590" dir="2700000" algn="bl" rotWithShape="0">
              <a:srgbClr val="E5B2B7">
                <a:alpha val="10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350139" y="2711450"/>
            <a:ext cx="500843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Скорость изменений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50139" y="3069134"/>
            <a:ext cx="5008437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Новые технологии появляются быстрее, чем разрабатываются и принимаются законы.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61475" y="3935313"/>
            <a:ext cx="5351725" cy="1230213"/>
          </a:xfrm>
          <a:prstGeom prst="roundRect">
            <a:avLst>
              <a:gd name="adj" fmla="val 12100"/>
            </a:avLst>
          </a:prstGeom>
          <a:solidFill>
            <a:srgbClr val="FFCCD1"/>
          </a:solidFill>
          <a:ln w="6350">
            <a:solidFill>
              <a:srgbClr val="E5B2B7"/>
            </a:solidFill>
            <a:prstDash val="solid"/>
          </a:ln>
          <a:effectLst>
            <a:outerShdw blurRad="127" dist="21590" dir="2700000" algn="bl" rotWithShape="0">
              <a:srgbClr val="E5B2B7">
                <a:alpha val="10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3119" y="4106962"/>
            <a:ext cx="500843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Сетевой характер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33119" y="4464645"/>
            <a:ext cx="5008437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Облачные и распределённые системы не имеют фиксированного местоположения.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8495" y="3935313"/>
            <a:ext cx="5351725" cy="1230213"/>
          </a:xfrm>
          <a:prstGeom prst="roundRect">
            <a:avLst>
              <a:gd name="adj" fmla="val 12100"/>
            </a:avLst>
          </a:prstGeom>
          <a:solidFill>
            <a:srgbClr val="FFCCD1"/>
          </a:solidFill>
          <a:ln w="6350">
            <a:solidFill>
              <a:srgbClr val="E5B2B7"/>
            </a:solidFill>
            <a:prstDash val="solid"/>
          </a:ln>
          <a:effectLst>
            <a:outerShdw blurRad="127" dist="21590" dir="2700000" algn="bl" rotWithShape="0">
              <a:srgbClr val="E5B2B7">
                <a:alpha val="10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50139" y="4106962"/>
            <a:ext cx="500843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Трансграничность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50139" y="4464645"/>
            <a:ext cx="5008437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Данные хранятся и обрабатываются в разных юрисдикциях одновременно.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1475" y="5351562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Следствие: техническое регулирование в ИКТ активно использует гибкие механизмы — ссылки на стандарты, «быстрые» обновления и саморегулирование отрасли.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486271"/>
            <a:ext cx="6296860" cy="936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Что именно регулируется в сфере ИКТ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5233360" y="1626791"/>
            <a:ext cx="62968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Объекты технического регулирования в ИКТ охватывают как материальные, так и нематериальные компоненты цифровой инфраструктуры. Каждый объект имеет свои особенности регулирования.</a:t>
            </a:r>
            <a:endParaRPr lang="en-US" sz="11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2465388"/>
            <a:ext cx="374641" cy="3746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777760" y="2465388"/>
            <a:ext cx="5752460" cy="234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Оборудование</a:t>
            </a:r>
            <a:endParaRPr lang="en-US" sz="1450" dirty="0"/>
          </a:p>
        </p:txBody>
      </p:sp>
      <p:sp>
        <p:nvSpPr>
          <p:cNvPr id="7" name="Text 3"/>
          <p:cNvSpPr/>
          <p:nvPr/>
        </p:nvSpPr>
        <p:spPr>
          <a:xfrm>
            <a:off x="5777760" y="2781002"/>
            <a:ext cx="57524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Серверы, персональные компьютеры, сетевое оборудование, смартфоны и планшеты.</a:t>
            </a:r>
            <a:endParaRPr lang="en-US" sz="11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3360" y="3509863"/>
            <a:ext cx="374641" cy="3746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777760" y="3509863"/>
            <a:ext cx="5752460" cy="234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Программное обеспечение</a:t>
            </a:r>
            <a:endParaRPr lang="en-US" sz="1450" dirty="0"/>
          </a:p>
        </p:txBody>
      </p:sp>
      <p:sp>
        <p:nvSpPr>
          <p:cNvPr id="10" name="Text 5"/>
          <p:cNvSpPr/>
          <p:nvPr/>
        </p:nvSpPr>
        <p:spPr>
          <a:xfrm>
            <a:off x="5777760" y="3825478"/>
            <a:ext cx="57524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В части безопасности, совместимости и соответствия требованиям для государственного сектора.</a:t>
            </a:r>
            <a:endParaRPr lang="en-US" sz="11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33360" y="4554339"/>
            <a:ext cx="374641" cy="37465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777760" y="4554339"/>
            <a:ext cx="5752460" cy="234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Системы связи</a:t>
            </a:r>
            <a:endParaRPr lang="en-US" sz="1450" dirty="0"/>
          </a:p>
        </p:txBody>
      </p:sp>
      <p:sp>
        <p:nvSpPr>
          <p:cNvPr id="13" name="Text 7"/>
          <p:cNvSpPr/>
          <p:nvPr/>
        </p:nvSpPr>
        <p:spPr>
          <a:xfrm>
            <a:off x="5777760" y="4869954"/>
            <a:ext cx="57524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Телекоммуникационное оборудование, частоты, протоколы передачи данных.</a:t>
            </a:r>
            <a:endParaRPr lang="en-US" sz="11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233360" y="5598815"/>
            <a:ext cx="374641" cy="37465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777760" y="5598815"/>
            <a:ext cx="5752460" cy="234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Данные и услуги</a:t>
            </a:r>
            <a:endParaRPr lang="en-US" sz="1450" dirty="0"/>
          </a:p>
        </p:txBody>
      </p:sp>
      <p:sp>
        <p:nvSpPr>
          <p:cNvPr id="16" name="Text 9"/>
          <p:cNvSpPr/>
          <p:nvPr/>
        </p:nvSpPr>
        <p:spPr>
          <a:xfrm>
            <a:off x="5777760" y="5914430"/>
            <a:ext cx="57524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Персональные данные, критически важная информация, облачные сервисы и хостинг.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54819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Приоритеты технического регулирования в ИКТ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61475" y="795933"/>
            <a:ext cx="11478330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IT-специалист обязан ориентироваться в семи ключевых направлениях регулирования, каждое из которых предъявляет конкретные обязательные требования к разработке и эксплуатации систем.</a:t>
            </a:r>
            <a:endParaRPr lang="en-US" sz="6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941487"/>
            <a:ext cx="9753356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97595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Безопасность данных — обязательное требование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245023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Информационная безопасность является одним из главных объектов технического регулирования в ИКТ. Требования носят обязательный характер и подкреплены строгой ответственностью.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960291"/>
            <a:ext cx="3512653" cy="178484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22017" y="3144639"/>
            <a:ext cx="306776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ФЗ № 149-ФЗ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22017" y="3502323"/>
            <a:ext cx="3067767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«Об информации, информационных технологиях и о защите информации» — базовый закон в сфере ИБ.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39422" y="2960291"/>
            <a:ext cx="3512752" cy="178484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99964" y="3144639"/>
            <a:ext cx="30678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ФЗ № 152-ФЗ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99964" y="3502323"/>
            <a:ext cx="3067866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«О персональных данных» — регулирует сбор, хранение и обработку личной информации граждан.</a:t>
            </a:r>
            <a:endParaRPr lang="en-US" sz="13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17468" y="2960291"/>
            <a:ext cx="3512653" cy="178484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278010" y="3144639"/>
            <a:ext cx="306776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ФЗ № 187-ФЗ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8278010" y="3502323"/>
            <a:ext cx="3067767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«О безопасности критической информационной инфраструктуры» — защита жизненно важных систем государства.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661475" y="4931172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Стандарты ГОСТ Р ИСО/МЭК 27001 и 27002 являются добровольными, однако служат доказательной базой соответствия. </a:t>
            </a:r>
            <a:r>
              <a:rPr lang="en-US" sz="1300" b="1" dirty="0">
                <a:solidFill>
                  <a:srgbClr val="4A4A4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ГОСТ Р 57580.x обязателен для банков</a:t>
            </a: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по требованию Банка России.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476647"/>
            <a:ext cx="6296860" cy="1017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Защита жизненно важных систем государства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5233360" y="1734344"/>
            <a:ext cx="6296860" cy="775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4A4A4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Критическая информационная инфраструктура (КИИ)</a:t>
            </a:r>
            <a:r>
              <a:rPr lang="en-US" sz="12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совокупность информационных систем и сетей, нарушение работы которых может нанести ущерб государству, экономике и обществу.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5116186" y="2690019"/>
            <a:ext cx="3184247" cy="2349798"/>
          </a:xfrm>
          <a:prstGeom prst="roundRect">
            <a:avLst>
              <a:gd name="adj" fmla="val 9977"/>
            </a:avLst>
          </a:prstGeom>
          <a:solidFill>
            <a:srgbClr val="FFC7CD"/>
          </a:solidFill>
          <a:ln/>
        </p:spPr>
      </p:sp>
      <p:sp>
        <p:nvSpPr>
          <p:cNvPr id="6" name="Text 3"/>
          <p:cNvSpPr/>
          <p:nvPr/>
        </p:nvSpPr>
        <p:spPr>
          <a:xfrm>
            <a:off x="5278901" y="2850257"/>
            <a:ext cx="2858818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Субъекты КИИ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278901" y="3264793"/>
            <a:ext cx="2858818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54000" indent="-254000" algn="l">
              <a:lnSpc>
                <a:spcPct val="132000"/>
              </a:lnSpc>
              <a:buSzPct val="100000"/>
              <a:buChar char="•"/>
            </a:pPr>
            <a:r>
              <a:rPr lang="en-US" sz="12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Государственные органы и структуры</a:t>
            </a:r>
            <a:endParaRPr lang="en-US" sz="1250" dirty="0"/>
          </a:p>
          <a:p>
            <a:pPr marL="254000" indent="-254000" algn="l">
              <a:lnSpc>
                <a:spcPct val="132000"/>
              </a:lnSpc>
              <a:buSzPct val="100000"/>
              <a:buChar char="•"/>
            </a:pPr>
            <a:r>
              <a:rPr lang="en-US" sz="12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Энергетика, транспорт, связь</a:t>
            </a:r>
            <a:endParaRPr lang="en-US" sz="1250" dirty="0"/>
          </a:p>
          <a:p>
            <a:pPr marL="254000" indent="-254000" algn="l">
              <a:lnSpc>
                <a:spcPct val="132000"/>
              </a:lnSpc>
              <a:buSzPct val="100000"/>
              <a:buChar char="•"/>
            </a:pPr>
            <a:r>
              <a:rPr lang="en-US" sz="12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Финансы, медицина, наука</a:t>
            </a:r>
            <a:endParaRPr lang="en-US" sz="1250" dirty="0"/>
          </a:p>
          <a:p>
            <a:pPr marL="254000" indent="-254000" algn="l">
              <a:lnSpc>
                <a:spcPct val="132000"/>
              </a:lnSpc>
              <a:buSzPct val="100000"/>
              <a:buChar char="•"/>
            </a:pPr>
            <a:r>
              <a:rPr lang="en-US" sz="12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Оборонная промышленность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586672" y="2850257"/>
            <a:ext cx="2949898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Обязательные требования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586672" y="3264793"/>
            <a:ext cx="2949898" cy="17189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54000" indent="-254000" algn="l">
              <a:lnSpc>
                <a:spcPct val="132000"/>
              </a:lnSpc>
              <a:buSzPct val="100000"/>
              <a:buChar char="•"/>
            </a:pPr>
            <a:r>
              <a:rPr lang="en-US" sz="12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Обязательная категоризация объектов КИИ</a:t>
            </a:r>
            <a:endParaRPr lang="en-US" sz="1250" dirty="0"/>
          </a:p>
          <a:p>
            <a:pPr marL="254000" indent="-254000" algn="l">
              <a:lnSpc>
                <a:spcPct val="132000"/>
              </a:lnSpc>
              <a:buSzPct val="100000"/>
              <a:buChar char="•"/>
            </a:pPr>
            <a:r>
              <a:rPr lang="en-US" sz="12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Создание систем безопасности</a:t>
            </a:r>
            <a:endParaRPr lang="en-US" sz="1250" dirty="0"/>
          </a:p>
          <a:p>
            <a:pPr marL="254000" indent="-254000" algn="l">
              <a:lnSpc>
                <a:spcPct val="132000"/>
              </a:lnSpc>
              <a:buSzPct val="100000"/>
              <a:buChar char="•"/>
            </a:pPr>
            <a:r>
              <a:rPr lang="en-US" sz="12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Взаимодействие с ГосСОПКА</a:t>
            </a:r>
            <a:endParaRPr lang="en-US" sz="1250" dirty="0"/>
          </a:p>
          <a:p>
            <a:pPr marL="254000" indent="-254000" algn="l">
              <a:lnSpc>
                <a:spcPct val="132000"/>
              </a:lnSpc>
              <a:buSzPct val="100000"/>
              <a:buChar char="•"/>
            </a:pPr>
            <a:r>
              <a:rPr lang="en-US" sz="12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Использование сертифицированных СЗИ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233360" y="5220097"/>
            <a:ext cx="6296860" cy="1161157"/>
          </a:xfrm>
          <a:prstGeom prst="roundRect">
            <a:avLst>
              <a:gd name="adj" fmla="val 12619"/>
            </a:avLst>
          </a:prstGeom>
          <a:solidFill>
            <a:srgbClr val="FFCCD1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6075" y="5450086"/>
            <a:ext cx="203493" cy="16271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762282" y="5421015"/>
            <a:ext cx="5605223" cy="775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Для IT-специалиста: работа в сфере КИИ предполагает особые квалификационные требования и использование только сертифицированного ПО и оборудования.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77106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Защита личной информации граждан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824534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Главный нормативный акт — </a:t>
            </a:r>
            <a:r>
              <a:rPr lang="en-US" sz="1300" b="1" dirty="0">
                <a:solidFill>
                  <a:srgbClr val="4A4A4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ФЗ № 152-ФЗ «О персональных данных»</a:t>
            </a: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Закон обязывает любую организацию, обрабатывающую персональные данные, выполнять конкретные технические и организационные меры.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2539802"/>
            <a:ext cx="5351725" cy="1230213"/>
          </a:xfrm>
          <a:prstGeom prst="roundRect">
            <a:avLst>
              <a:gd name="adj" fmla="val 12100"/>
            </a:avLst>
          </a:prstGeom>
          <a:solidFill>
            <a:srgbClr val="FFCCD1"/>
          </a:solidFill>
          <a:ln w="6350">
            <a:solidFill>
              <a:srgbClr val="E5B2B7"/>
            </a:solidFill>
            <a:prstDash val="solid"/>
          </a:ln>
          <a:effectLst>
            <a:outerShdw blurRad="127" dist="21590" dir="2700000" algn="bl" rotWithShape="0">
              <a:srgbClr val="E5B2B7">
                <a:alpha val="1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33119" y="2711450"/>
            <a:ext cx="500843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Локализация данных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33119" y="3069134"/>
            <a:ext cx="5008437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Хранение персональных данных граждан РФ на серверах, физически расположенных в России.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8495" y="2539802"/>
            <a:ext cx="5351725" cy="1230213"/>
          </a:xfrm>
          <a:prstGeom prst="roundRect">
            <a:avLst>
              <a:gd name="adj" fmla="val 12100"/>
            </a:avLst>
          </a:prstGeom>
          <a:solidFill>
            <a:srgbClr val="FFCCD1"/>
          </a:solidFill>
          <a:ln w="6350">
            <a:solidFill>
              <a:srgbClr val="E5B2B7"/>
            </a:solidFill>
            <a:prstDash val="solid"/>
          </a:ln>
          <a:effectLst>
            <a:outerShdw blurRad="127" dist="21590" dir="2700000" algn="bl" rotWithShape="0">
              <a:srgbClr val="E5B2B7">
                <a:alpha val="10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350139" y="2711450"/>
            <a:ext cx="500843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Согласие на обработку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50139" y="3069134"/>
            <a:ext cx="5008437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Явное, информированное согласие пользователя на каждый вид обработки его данных.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61475" y="3935313"/>
            <a:ext cx="5351725" cy="1230213"/>
          </a:xfrm>
          <a:prstGeom prst="roundRect">
            <a:avLst>
              <a:gd name="adj" fmla="val 12100"/>
            </a:avLst>
          </a:prstGeom>
          <a:solidFill>
            <a:srgbClr val="FFCCD1"/>
          </a:solidFill>
          <a:ln w="6350">
            <a:solidFill>
              <a:srgbClr val="E5B2B7"/>
            </a:solidFill>
            <a:prstDash val="solid"/>
          </a:ln>
          <a:effectLst>
            <a:outerShdw blurRad="127" dist="21590" dir="2700000" algn="bl" rotWithShape="0">
              <a:srgbClr val="E5B2B7">
                <a:alpha val="10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3119" y="4106962"/>
            <a:ext cx="500843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Уведомление РКН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33119" y="4464645"/>
            <a:ext cx="5008437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Регистрация в реестре операторов персональных данных Роскомнадзора.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8495" y="3935313"/>
            <a:ext cx="5351725" cy="1230213"/>
          </a:xfrm>
          <a:prstGeom prst="roundRect">
            <a:avLst>
              <a:gd name="adj" fmla="val 12100"/>
            </a:avLst>
          </a:prstGeom>
          <a:solidFill>
            <a:srgbClr val="FFCCD1"/>
          </a:solidFill>
          <a:ln w="6350">
            <a:solidFill>
              <a:srgbClr val="E5B2B7"/>
            </a:solidFill>
            <a:prstDash val="solid"/>
          </a:ln>
          <a:effectLst>
            <a:outerShdw blurRad="127" dist="21590" dir="2700000" algn="bl" rotWithShape="0">
              <a:srgbClr val="E5B2B7">
                <a:alpha val="10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50139" y="4106962"/>
            <a:ext cx="500843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Защита от утечек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50139" y="4464645"/>
            <a:ext cx="5008437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Комплекс организационных и технических мер: шифрование, контроль доступа, аудит.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1475" y="5351562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Ответственность: административные штрафы, блокировка сайтов (Facebook*, TikTok*), уголовное преследование за злостные нарушения.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30920"/>
            <a:ext cx="10868745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Электромагнитная совместимость: чтобы техника не мешала друг другу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777728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Что такое ЭМС?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61475" y="3201491"/>
            <a:ext cx="5232666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Электромагнитная совместимость — способность оборудования функционировать без создания недопустимых электромагнитных помех для других устройств и без сбоев от внешних помех.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61475" y="4425255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Технический регламент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61475" y="4849019"/>
            <a:ext cx="5232666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4A4A4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ТР ТС 020/2011</a:t>
            </a: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обязателен для всего активного ИКТ-оборудования, реализуемого на рынке ЕАЭС.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84844" y="2612430"/>
            <a:ext cx="5470785" cy="2914650"/>
          </a:xfrm>
          <a:prstGeom prst="roundRect">
            <a:avLst>
              <a:gd name="adj" fmla="val 8171"/>
            </a:avLst>
          </a:prstGeom>
          <a:solidFill>
            <a:srgbClr val="FFC7CD"/>
          </a:solidFill>
          <a:ln/>
        </p:spPr>
      </p:sp>
      <p:sp>
        <p:nvSpPr>
          <p:cNvPr id="8" name="Text 6"/>
          <p:cNvSpPr/>
          <p:nvPr/>
        </p:nvSpPr>
        <p:spPr>
          <a:xfrm>
            <a:off x="6350139" y="2777728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Почему это важно для IT?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50139" y="3201491"/>
            <a:ext cx="5140196" cy="1231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Серверы, ПК и роутеры излучают электромагнитные волны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Несоблюдение норм ведёт к сбоям оборудования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В плотных серверных залах риски особенно высоки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Обязательная сертификация или декларирование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30201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Частоты, протоколы, оборудование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977628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Телекоммуникации — один из наиболее зарегулированных секторов ИКТ. Государство контролирует как физическую инфраструктуру (частоты), так и логическую (протоколы и интерфейсы).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61475" y="2692896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61475" y="2954834"/>
            <a:ext cx="3512653" cy="19050"/>
          </a:xfrm>
          <a:prstGeom prst="rect">
            <a:avLst/>
          </a:prstGeom>
          <a:solidFill>
            <a:srgbClr val="E199BB"/>
          </a:solidFill>
          <a:ln/>
        </p:spPr>
      </p:sp>
      <p:sp>
        <p:nvSpPr>
          <p:cNvPr id="6" name="Text 4"/>
          <p:cNvSpPr/>
          <p:nvPr/>
        </p:nvSpPr>
        <p:spPr>
          <a:xfrm>
            <a:off x="661475" y="3075583"/>
            <a:ext cx="351265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Распределение радиочастот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61475" y="3433266"/>
            <a:ext cx="3512653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Минцифры и Роскомнадзор контролируют использование частотного спектра. Нелицензированное использование — административная ответственность.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39422" y="2692896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39422" y="2971403"/>
            <a:ext cx="3512752" cy="19050"/>
          </a:xfrm>
          <a:prstGeom prst="rect">
            <a:avLst/>
          </a:prstGeom>
          <a:solidFill>
            <a:srgbClr val="E199BB"/>
          </a:solidFill>
          <a:ln/>
        </p:spPr>
      </p:sp>
      <p:sp>
        <p:nvSpPr>
          <p:cNvPr id="10" name="Text 8"/>
          <p:cNvSpPr/>
          <p:nvPr/>
        </p:nvSpPr>
        <p:spPr>
          <a:xfrm>
            <a:off x="4339422" y="3075583"/>
            <a:ext cx="351275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Сертификация средств связи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339422" y="3433266"/>
            <a:ext cx="3512752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Телекоммуникационное оборудование проходит обязательную сертификацию в Роскомнадзоре перед выходом на рынок.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017468" y="2692896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17468" y="2971403"/>
            <a:ext cx="3512653" cy="19050"/>
          </a:xfrm>
          <a:prstGeom prst="rect">
            <a:avLst/>
          </a:prstGeom>
          <a:solidFill>
            <a:srgbClr val="E199BB"/>
          </a:solidFill>
          <a:ln/>
        </p:spPr>
      </p:sp>
      <p:sp>
        <p:nvSpPr>
          <p:cNvPr id="14" name="Text 12"/>
          <p:cNvSpPr/>
          <p:nvPr/>
        </p:nvSpPr>
        <p:spPr>
          <a:xfrm>
            <a:off x="8017468" y="3075583"/>
            <a:ext cx="351265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Протоколы и интерфейсы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017468" y="3433266"/>
            <a:ext cx="3512653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Стандарты ITU и ETSI, а также национальные ГОСТы на средства связи определяют совместимость оборудования.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61475" y="4785320"/>
            <a:ext cx="10868745" cy="925909"/>
          </a:xfrm>
          <a:prstGeom prst="roundRect">
            <a:avLst>
              <a:gd name="adj" fmla="val 16076"/>
            </a:avLst>
          </a:prstGeom>
          <a:solidFill>
            <a:srgbClr val="FFCCD1"/>
          </a:solidFill>
          <a:ln/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69" y="5025033"/>
            <a:ext cx="206667" cy="16529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198731" y="5008364"/>
            <a:ext cx="1016619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Для IT: любое сетевое оборудование (роутеры, точки доступа Wi-Fi, коммутаторы) требует обязательной сертификации перед ввозом и реализацией в РФ.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458788"/>
            <a:ext cx="6296860" cy="411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Каркас качества и совместимости</a:t>
            </a:r>
            <a:endParaRPr lang="en-US" sz="2550" dirty="0"/>
          </a:p>
        </p:txBody>
      </p:sp>
      <p:sp>
        <p:nvSpPr>
          <p:cNvPr id="4" name="Text 1"/>
          <p:cNvSpPr/>
          <p:nvPr/>
        </p:nvSpPr>
        <p:spPr>
          <a:xfrm>
            <a:off x="5233360" y="1028105"/>
            <a:ext cx="6296860" cy="3788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Стандартизация в области ИКТ </a:t>
            </a:r>
            <a:r>
              <a:rPr lang="en-US" sz="1000" dirty="0" err="1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преследует</a:t>
            </a:r>
            <a:r>
              <a:rPr lang="en-US" sz="10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ru-RU" sz="10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</a:t>
            </a:r>
            <a:r>
              <a:rPr lang="en-US" sz="10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взаимосвязанных целей, без которых цифровая экономика не могла бы функционировать.</a:t>
            </a:r>
            <a:endParaRPr lang="en-US" sz="10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1524992"/>
            <a:ext cx="329398" cy="32940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233360" y="1985665"/>
            <a:ext cx="6296860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Совместимость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5233360" y="2254548"/>
            <a:ext cx="6296860" cy="3788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Единые интерфейсы и протоколы обеспечивают взаимодействие систем разных производителей.</a:t>
            </a:r>
            <a:endParaRPr lang="en-US" sz="10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3360" y="2843411"/>
            <a:ext cx="329398" cy="32940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233360" y="3304084"/>
            <a:ext cx="6296860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Качество</a:t>
            </a:r>
            <a:endParaRPr lang="en-US" sz="1250" dirty="0"/>
          </a:p>
        </p:txBody>
      </p:sp>
      <p:sp>
        <p:nvSpPr>
          <p:cNvPr id="10" name="Text 5"/>
          <p:cNvSpPr/>
          <p:nvPr/>
        </p:nvSpPr>
        <p:spPr>
          <a:xfrm>
            <a:off x="5233360" y="3572966"/>
            <a:ext cx="6296860" cy="189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Стандарты задают измеримые критерии качества программного обеспечения и оборудования.</a:t>
            </a:r>
            <a:endParaRPr lang="en-US" sz="10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33360" y="3972421"/>
            <a:ext cx="329398" cy="32940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233360" y="4433094"/>
            <a:ext cx="6296860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Безопасность</a:t>
            </a:r>
            <a:endParaRPr lang="en-US" sz="1250" dirty="0"/>
          </a:p>
        </p:txBody>
      </p:sp>
      <p:sp>
        <p:nvSpPr>
          <p:cNvPr id="13" name="Text 7"/>
          <p:cNvSpPr/>
          <p:nvPr/>
        </p:nvSpPr>
        <p:spPr>
          <a:xfrm>
            <a:off x="5233360" y="4701977"/>
            <a:ext cx="6296860" cy="3788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Стандарты ИБ защищают данные пользователей и критическую инфраструктуру на всех уровнях.</a:t>
            </a:r>
            <a:endParaRPr lang="en-US" sz="10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233360" y="5290840"/>
            <a:ext cx="329398" cy="329406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233360" y="5751513"/>
            <a:ext cx="6296860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Переносимость</a:t>
            </a:r>
            <a:endParaRPr lang="en-US" sz="1250" dirty="0"/>
          </a:p>
        </p:txBody>
      </p:sp>
      <p:sp>
        <p:nvSpPr>
          <p:cNvPr id="16" name="Text 9"/>
          <p:cNvSpPr/>
          <p:nvPr/>
        </p:nvSpPr>
        <p:spPr>
          <a:xfrm>
            <a:off x="5233360" y="6020395"/>
            <a:ext cx="6296860" cy="3788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Кроссплатформенность и независимость от конкретного производителя снижают риски монополизации.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77937"/>
            <a:ext cx="10868745" cy="508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Стандарты качества программного обеспечения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61475" y="1307108"/>
            <a:ext cx="10868745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4A4A4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ГОСТ Р ИСО/МЭК 25010</a:t>
            </a:r>
            <a:r>
              <a:rPr lang="en-US" sz="12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базовая модель качества ПО, описывающая восемь характеристик, по которым оценивается любой программный продукт.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61475" y="2004318"/>
            <a:ext cx="5354206" cy="947043"/>
          </a:xfrm>
          <a:prstGeom prst="roundRect">
            <a:avLst>
              <a:gd name="adj" fmla="val 15472"/>
            </a:avLst>
          </a:prstGeom>
          <a:solidFill>
            <a:srgbClr val="FFCCD1"/>
          </a:solidFill>
          <a:ln w="6350">
            <a:solidFill>
              <a:srgbClr val="E5B2B7"/>
            </a:solidFill>
            <a:prstDash val="solid"/>
          </a:ln>
          <a:effectLst>
            <a:outerShdw blurRad="127" dist="20320" dir="2700000" algn="bl" rotWithShape="0">
              <a:srgbClr val="E5B2B7">
                <a:alpha val="1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30539" y="2173387"/>
            <a:ext cx="5016077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Функциональность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30539" y="2523827"/>
            <a:ext cx="501607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Полнота и корректность выполнения заявленных функций.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5915" y="2004318"/>
            <a:ext cx="5354305" cy="947043"/>
          </a:xfrm>
          <a:prstGeom prst="roundRect">
            <a:avLst>
              <a:gd name="adj" fmla="val 15472"/>
            </a:avLst>
          </a:prstGeom>
          <a:solidFill>
            <a:srgbClr val="FFCCD1"/>
          </a:solidFill>
          <a:ln w="6350">
            <a:solidFill>
              <a:srgbClr val="E5B2B7"/>
            </a:solidFill>
            <a:prstDash val="solid"/>
          </a:ln>
          <a:effectLst>
            <a:outerShdw blurRad="127" dist="20320" dir="2700000" algn="bl" rotWithShape="0">
              <a:srgbClr val="E5B2B7">
                <a:alpha val="10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344980" y="2173387"/>
            <a:ext cx="5016176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Надёжность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44980" y="2523827"/>
            <a:ext cx="501617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Устойчивость к отказам, восстанавливаемость, доступность.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1475" y="3111599"/>
            <a:ext cx="5354206" cy="1205508"/>
          </a:xfrm>
          <a:prstGeom prst="roundRect">
            <a:avLst>
              <a:gd name="adj" fmla="val 12155"/>
            </a:avLst>
          </a:prstGeom>
          <a:solidFill>
            <a:srgbClr val="FFCCD1"/>
          </a:solidFill>
          <a:ln w="6350">
            <a:solidFill>
              <a:srgbClr val="E5B2B7"/>
            </a:solidFill>
            <a:prstDash val="solid"/>
          </a:ln>
          <a:effectLst>
            <a:outerShdw blurRad="127" dist="20320" dir="2700000" algn="bl" rotWithShape="0">
              <a:srgbClr val="E5B2B7">
                <a:alpha val="10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0539" y="3280668"/>
            <a:ext cx="5016077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Удобство использования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30539" y="3631109"/>
            <a:ext cx="5016077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Эффективность и удовлетворённость пользователя при работе с ПО.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75915" y="3111599"/>
            <a:ext cx="5354305" cy="1205508"/>
          </a:xfrm>
          <a:prstGeom prst="roundRect">
            <a:avLst>
              <a:gd name="adj" fmla="val 12155"/>
            </a:avLst>
          </a:prstGeom>
          <a:solidFill>
            <a:srgbClr val="FFCCD1"/>
          </a:solidFill>
          <a:ln w="6350">
            <a:solidFill>
              <a:srgbClr val="E5B2B7"/>
            </a:solidFill>
            <a:prstDash val="solid"/>
          </a:ln>
          <a:effectLst>
            <a:outerShdw blurRad="127" dist="20320" dir="2700000" algn="bl" rotWithShape="0">
              <a:srgbClr val="E5B2B7">
                <a:alpha val="10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44980" y="3280668"/>
            <a:ext cx="5016176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Производительность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44980" y="3631109"/>
            <a:ext cx="5016176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Время отклика, пропускная способность, использование ресурсов.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1475" y="4477345"/>
            <a:ext cx="5354206" cy="1205508"/>
          </a:xfrm>
          <a:prstGeom prst="roundRect">
            <a:avLst>
              <a:gd name="adj" fmla="val 12155"/>
            </a:avLst>
          </a:prstGeom>
          <a:solidFill>
            <a:srgbClr val="FFCCD1"/>
          </a:solidFill>
          <a:ln w="6350">
            <a:solidFill>
              <a:srgbClr val="E5B2B7"/>
            </a:solidFill>
            <a:prstDash val="solid"/>
          </a:ln>
          <a:effectLst>
            <a:outerShdw blurRad="127" dist="20320" dir="2700000" algn="bl" rotWithShape="0">
              <a:srgbClr val="E5B2B7">
                <a:alpha val="10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30539" y="4646414"/>
            <a:ext cx="5016077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Безопасность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0539" y="4996855"/>
            <a:ext cx="5016077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Конфиденциальность, целостность, подотчётность, аутентичность.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5915" y="4477345"/>
            <a:ext cx="5354305" cy="1205508"/>
          </a:xfrm>
          <a:prstGeom prst="roundRect">
            <a:avLst>
              <a:gd name="adj" fmla="val 12155"/>
            </a:avLst>
          </a:prstGeom>
          <a:solidFill>
            <a:srgbClr val="FFCCD1"/>
          </a:solidFill>
          <a:ln w="6350">
            <a:solidFill>
              <a:srgbClr val="E5B2B7"/>
            </a:solidFill>
            <a:prstDash val="solid"/>
          </a:ln>
          <a:effectLst>
            <a:outerShdw blurRad="127" dist="20320" dir="2700000" algn="bl" rotWithShape="0">
              <a:srgbClr val="E5B2B7">
                <a:alpha val="10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344980" y="4646414"/>
            <a:ext cx="5016176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Сопровождаемость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44980" y="4996855"/>
            <a:ext cx="5016176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Простота анализа, изменения, тестирования и переносимости кода.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61475" y="5863134"/>
            <a:ext cx="10868745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Дополнительно: </a:t>
            </a:r>
            <a:r>
              <a:rPr lang="en-US" sz="1250" b="1" dirty="0">
                <a:solidFill>
                  <a:srgbClr val="4A4A4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ГОСТ Р ИСО/МЭК 12207</a:t>
            </a:r>
            <a:r>
              <a:rPr lang="en-US" sz="12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регламентирует процессы жизненного цикла программного обеспечения от замысла до вывода из эксплуатации.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6912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Единая система программной документации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216547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Корректное оформление технической документации — профессиональная обязанность разработчика. Российская нормативная база включает две ключевые системы стандартов.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2415" y="2931815"/>
            <a:ext cx="5470785" cy="2556966"/>
          </a:xfrm>
          <a:prstGeom prst="roundRect">
            <a:avLst>
              <a:gd name="adj" fmla="val 9314"/>
            </a:avLst>
          </a:prstGeom>
          <a:solidFill>
            <a:srgbClr val="FFC7CD"/>
          </a:solidFill>
          <a:ln/>
        </p:spPr>
      </p:sp>
      <p:sp>
        <p:nvSpPr>
          <p:cNvPr id="5" name="Text 3"/>
          <p:cNvSpPr/>
          <p:nvPr/>
        </p:nvSpPr>
        <p:spPr>
          <a:xfrm>
            <a:off x="707710" y="3097113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ЕСПД — ГОСТ 19.xxx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07710" y="3520877"/>
            <a:ext cx="5140196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Единая система программной документации. Регулирует оформление программных продуктов.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07710" y="4198938"/>
            <a:ext cx="5140196" cy="1231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ГОСТ 19.701-90 — Схемы алгоритмов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ГОСТ 19.402-78 — Описание программы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ГОСТ 19.505-79 — Руководство оператора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ГОСТ 19.506-79 — Руководство программиста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03904" y="3097113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ГОСТ 34.xxx — Автоматизированные системы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03904" y="3520877"/>
            <a:ext cx="5232666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Стандарты на создание и эксплуатацию автоматизированных систем управления.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03904" y="4198938"/>
            <a:ext cx="5232666" cy="1231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ГОСТ 34.602-2020 — Техническое задание на АС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ГОСТ 34.601-90 — Стадии создания АС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ГОСТ 34.003-90 — Термины и определения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ГОСТ 34.201-89 — Виды документов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74874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Стандарты информационной безопасности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222302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Стандарты ИБ образуют трёхуровневую систему: международные, национальные и ведомственные. Знание каждого уровня необходимо для профессиональной работы.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937570"/>
            <a:ext cx="3512653" cy="25455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45819" y="3618012"/>
            <a:ext cx="314396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Международные стандарты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45819" y="3975695"/>
            <a:ext cx="3143965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4A4A4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ISO/IEC 27001</a:t>
            </a: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система менеджмента информационной безопасности (СМИБ). </a:t>
            </a:r>
            <a:r>
              <a:rPr lang="en-US" sz="1300" b="1" dirty="0">
                <a:solidFill>
                  <a:srgbClr val="4A4A4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ISO/IEC 27002</a:t>
            </a: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практические меры и контроли защиты информации.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39422" y="2937570"/>
            <a:ext cx="3512752" cy="25455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23766" y="3618012"/>
            <a:ext cx="3144064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Российские национальные стандарты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23766" y="4234160"/>
            <a:ext cx="3144064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4A4A4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ГОСТ Р 57580.x</a:t>
            </a: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безопасность финансовых операций (обязателен для банков). </a:t>
            </a:r>
            <a:r>
              <a:rPr lang="en-US" sz="1300" b="1" dirty="0">
                <a:solidFill>
                  <a:srgbClr val="4A4A4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ГОСТ Р 34.10/34.11</a:t>
            </a: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криптография и электронная подпись.</a:t>
            </a:r>
            <a:endParaRPr lang="en-US" sz="13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17468" y="2937570"/>
            <a:ext cx="3512653" cy="254555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201812" y="3618012"/>
            <a:ext cx="3143965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Ведомственные нормативные документы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8201812" y="4234160"/>
            <a:ext cx="3143965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Приказы ФСТЭК (серия 17, 21, 239) по защите информации в ГИС и КИИ. Стандарты и положения Банка России по информационной безопасности.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54819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Стандарты сетевого взаимодействия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61475" y="795933"/>
            <a:ext cx="11478330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Без стандартов сетевого взаимодействия глобальный интернет был бы невозможен. Именно стандарты обеспечивают совместимость оборудования и программ разных производителей из разных стран.</a:t>
            </a:r>
            <a:endParaRPr lang="en-US" sz="650" dirty="0"/>
          </a:p>
        </p:txBody>
      </p:sp>
      <p:sp>
        <p:nvSpPr>
          <p:cNvPr id="4" name="Shape 2"/>
          <p:cNvSpPr/>
          <p:nvPr/>
        </p:nvSpPr>
        <p:spPr>
          <a:xfrm>
            <a:off x="601945" y="941487"/>
            <a:ext cx="5452628" cy="665758"/>
          </a:xfrm>
          <a:prstGeom prst="roundRect">
            <a:avLst>
              <a:gd name="adj" fmla="val 17887"/>
            </a:avLst>
          </a:prstGeom>
          <a:solidFill>
            <a:srgbClr val="FFC7CD"/>
          </a:solidFill>
          <a:ln/>
        </p:spPr>
      </p:sp>
      <p:sp>
        <p:nvSpPr>
          <p:cNvPr id="5" name="Text 3"/>
          <p:cNvSpPr/>
          <p:nvPr/>
        </p:nvSpPr>
        <p:spPr>
          <a:xfrm>
            <a:off x="684592" y="982762"/>
            <a:ext cx="5287334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Международные стандарты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84592" y="1153220"/>
            <a:ext cx="5287334" cy="4396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32080" indent="-132080" algn="l">
              <a:lnSpc>
                <a:spcPct val="100000"/>
              </a:lnSpc>
              <a:buSzPct val="100000"/>
              <a:buChar char="•"/>
            </a:pPr>
            <a:r>
              <a:rPr lang="en-US" sz="650" b="1" dirty="0">
                <a:solidFill>
                  <a:srgbClr val="4A4A4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IEEE 802.3</a:t>
            </a:r>
            <a:r>
              <a:rPr lang="en-US" sz="6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Ethernet (проводные сети)</a:t>
            </a:r>
            <a:endParaRPr lang="en-US" sz="650" dirty="0"/>
          </a:p>
          <a:p>
            <a:pPr marL="132080" indent="-132080" algn="l">
              <a:lnSpc>
                <a:spcPct val="100000"/>
              </a:lnSpc>
              <a:buSzPct val="100000"/>
              <a:buChar char="•"/>
            </a:pPr>
            <a:r>
              <a:rPr lang="en-US" sz="650" b="1" dirty="0">
                <a:solidFill>
                  <a:srgbClr val="4A4A4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IEEE 802.11</a:t>
            </a:r>
            <a:r>
              <a:rPr lang="en-US" sz="6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Wi-Fi (беспроводные сети)</a:t>
            </a:r>
            <a:endParaRPr lang="en-US" sz="650" dirty="0"/>
          </a:p>
          <a:p>
            <a:pPr marL="132080" indent="-132080" algn="l">
              <a:lnSpc>
                <a:spcPct val="100000"/>
              </a:lnSpc>
              <a:buSzPct val="100000"/>
              <a:buChar char="•"/>
            </a:pPr>
            <a:r>
              <a:rPr lang="en-US" sz="650" b="1" dirty="0">
                <a:solidFill>
                  <a:srgbClr val="4A4A4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IETF RFC</a:t>
            </a:r>
            <a:r>
              <a:rPr lang="en-US" sz="6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TCP/IP, HTTP, SMTP, DNS</a:t>
            </a:r>
            <a:endParaRPr lang="en-US" sz="650" dirty="0"/>
          </a:p>
          <a:p>
            <a:pPr marL="132080" indent="-132080" algn="l">
              <a:lnSpc>
                <a:spcPct val="100000"/>
              </a:lnSpc>
              <a:buSzPct val="100000"/>
              <a:buChar char="•"/>
            </a:pPr>
            <a:r>
              <a:rPr lang="en-US" sz="650" b="1" dirty="0">
                <a:solidFill>
                  <a:srgbClr val="4A4A4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W3C</a:t>
            </a:r>
            <a:r>
              <a:rPr lang="en-US" sz="6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HTML, CSS, XML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6203001" y="982762"/>
            <a:ext cx="5333569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Российские стандарты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203001" y="1153220"/>
            <a:ext cx="5333569" cy="3261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32080" indent="-132080" algn="l">
              <a:lnSpc>
                <a:spcPct val="100000"/>
              </a:lnSpc>
              <a:buSzPct val="100000"/>
              <a:buChar char="•"/>
            </a:pPr>
            <a:r>
              <a:rPr lang="en-US" sz="650" b="1" dirty="0">
                <a:solidFill>
                  <a:srgbClr val="4A4A4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ГОСТ Р 53801-2010</a:t>
            </a:r>
            <a:r>
              <a:rPr lang="en-US" sz="6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Общие требования к сетевым интерфейсам</a:t>
            </a:r>
            <a:endParaRPr lang="en-US" sz="650" dirty="0"/>
          </a:p>
          <a:p>
            <a:pPr marL="132080" indent="-132080" algn="l">
              <a:lnSpc>
                <a:spcPct val="100000"/>
              </a:lnSpc>
              <a:buSzPct val="100000"/>
              <a:buChar char="•"/>
            </a:pPr>
            <a:r>
              <a:rPr lang="en-US" sz="650" b="1" dirty="0">
                <a:solidFill>
                  <a:srgbClr val="4A4A4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ГОСТ Р ИСО/МЭК 8802-x</a:t>
            </a:r>
            <a:r>
              <a:rPr lang="en-US" sz="6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Гармонизированные стандарты IEEE</a:t>
            </a:r>
            <a:endParaRPr lang="en-US" sz="650" dirty="0"/>
          </a:p>
          <a:p>
            <a:pPr marL="132080" indent="-132080" algn="l">
              <a:lnSpc>
                <a:spcPct val="100000"/>
              </a:lnSpc>
              <a:buSzPct val="100000"/>
              <a:buChar char="•"/>
            </a:pPr>
            <a:r>
              <a:rPr lang="en-US" sz="650" b="1" dirty="0">
                <a:solidFill>
                  <a:srgbClr val="4A4A4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ГОСТ Р 34.12-2015</a:t>
            </a:r>
            <a:r>
              <a:rPr lang="en-US" sz="6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Блочный шифр «Кузнечик» для защиты каналов</a:t>
            </a:r>
            <a:endParaRPr lang="en-US" sz="6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653679"/>
            <a:ext cx="10868745" cy="497413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22865" y="2344229"/>
            <a:ext cx="2404268" cy="300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Сетевой уровень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8622865" y="2730257"/>
            <a:ext cx="2650038" cy="3606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78000"/>
              </a:lnSpc>
              <a:buNone/>
            </a:pPr>
            <a:r>
              <a:rPr lang="en-US" sz="15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IP — маршрутизация пакетов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918521" y="3828902"/>
            <a:ext cx="2436325" cy="601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8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Транспортный уровень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918521" y="4515471"/>
            <a:ext cx="2436325" cy="3606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r">
              <a:lnSpc>
                <a:spcPct val="78000"/>
              </a:lnSpc>
              <a:buNone/>
            </a:pPr>
            <a:r>
              <a:rPr lang="en-US" sz="15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TCP и UDP — надежность и доставка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622865" y="4823358"/>
            <a:ext cx="2496098" cy="300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Прикладной уровень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8622865" y="5209387"/>
            <a:ext cx="2650038" cy="3606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78000"/>
              </a:lnSpc>
              <a:buNone/>
            </a:pPr>
            <a:r>
              <a:rPr lang="en-US" sz="15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HTTP, SMTP, DNS — сервисы и приложения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87512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Сертификация и декларирование в IT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734939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Подтверждение соответствия — процедура, которая доказывает, что продукция или система отвечает установленным требованиям. Форма подтверждения зависит от типа объекта и степени риска.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450207"/>
            <a:ext cx="3622882" cy="66149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6769" y="3276997"/>
            <a:ext cx="329229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Продукт или система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26769" y="3634680"/>
            <a:ext cx="3292293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ИКТ-оборудование, ПО или информационная система готовы к выходу на рынок или вводу в эксплуатацию.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4357" y="2450207"/>
            <a:ext cx="3622882" cy="66149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449651" y="3276997"/>
            <a:ext cx="329229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Испытания и оценка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449651" y="3634680"/>
            <a:ext cx="3292293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Лаборатория, аккредитованная ФСТЭК/ФСБ или Росстандартом, проводит испытания на соответствие требованиям.</a:t>
            </a:r>
            <a:endParaRPr lang="en-US" sz="13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7239" y="2450207"/>
            <a:ext cx="3622882" cy="66149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72533" y="3276997"/>
            <a:ext cx="329229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Документ соответствия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8072533" y="3634680"/>
            <a:ext cx="3292293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Выдаётся сертификат, оформляется декларация или проводится аттестация. Продукт вносится в реестр.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661475" y="5044480"/>
            <a:ext cx="10868745" cy="925909"/>
          </a:xfrm>
          <a:prstGeom prst="roundRect">
            <a:avLst>
              <a:gd name="adj" fmla="val 16076"/>
            </a:avLst>
          </a:prstGeom>
          <a:solidFill>
            <a:srgbClr val="FFCCD1"/>
          </a:solidFill>
          <a:ln/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6769" y="5284192"/>
            <a:ext cx="206667" cy="16529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98731" y="5251053"/>
            <a:ext cx="1016619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ПО для госзакупок должно быть включено в Единый реестр российского ПО Минцифры — это обязательное условие, а не формальность.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11845"/>
            <a:ext cx="10868745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Импортозамещение в действии: Реестр российского ПО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542415" y="2393355"/>
            <a:ext cx="5470785" cy="3352800"/>
          </a:xfrm>
          <a:prstGeom prst="roundRect">
            <a:avLst>
              <a:gd name="adj" fmla="val 7103"/>
            </a:avLst>
          </a:prstGeom>
          <a:solidFill>
            <a:srgbClr val="FFC7CD"/>
          </a:solidFill>
          <a:ln/>
        </p:spPr>
      </p:sp>
      <p:sp>
        <p:nvSpPr>
          <p:cNvPr id="4" name="Text 2"/>
          <p:cNvSpPr/>
          <p:nvPr/>
        </p:nvSpPr>
        <p:spPr>
          <a:xfrm>
            <a:off x="707710" y="2558653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Что такое реестр?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07710" y="2982416"/>
            <a:ext cx="5140196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Единый реестр российских программ для ЭВМ и баз данных — государственный инструмент поддержки отечественных IT-разработчиков. Оператор реестра — Министерство цифрового развития РФ.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07710" y="4206180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Требования для включения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07710" y="4629944"/>
            <a:ext cx="5140196" cy="909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Правообладатель — российское юридическое лицо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Свободная продажа на территории РФ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Отсутствие принудительных отчислений за рубеж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03904" y="2558653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Зачем это нужно?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03904" y="2982416"/>
            <a:ext cx="5232666" cy="1761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Поддержка отечественных разработчиков через преференции при госзакупках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Технологическая независимость от зарубежного ПО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Государственные организации обязаны отдавать приоритет реестровому ПО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Субсидии и гранты для разработчиков из реестра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03904" y="4908947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Примеры ПО в реестре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03904" y="5332710"/>
            <a:ext cx="584225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«МойОфис», «Аstra Linux», «1С», «Битрикс», СУБД «Postgres Pro».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51979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Реестр отечественного оборудования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599406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Помимо программного обеспечения, государство создало аналогичный механизм для аппаратного обеспечения — </a:t>
            </a:r>
            <a:r>
              <a:rPr lang="en-US" sz="1300" b="1" dirty="0">
                <a:solidFill>
                  <a:srgbClr val="4A4A4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Единый реестр российской радиоэлектронной продукции</a:t>
            </a: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под управлением Минпромторга.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2314674"/>
            <a:ext cx="3512653" cy="2679303"/>
          </a:xfrm>
          <a:prstGeom prst="roundRect">
            <a:avLst>
              <a:gd name="adj" fmla="val 5556"/>
            </a:avLst>
          </a:prstGeom>
          <a:solidFill>
            <a:srgbClr val="FFCCD1"/>
          </a:solidFill>
          <a:ln w="6350">
            <a:solidFill>
              <a:srgbClr val="E5B2B7"/>
            </a:solidFill>
            <a:prstDash val="solid"/>
          </a:ln>
          <a:effectLst>
            <a:outerShdw blurRad="127" dist="21590" dir="2700000" algn="bl" rotWithShape="0">
              <a:srgbClr val="E5B2B7">
                <a:alpha val="1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33119" y="2486323"/>
            <a:ext cx="496081" cy="496094"/>
          </a:xfrm>
          <a:prstGeom prst="ellipse">
            <a:avLst/>
          </a:prstGeom>
          <a:solidFill>
            <a:srgbClr val="E199BB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9541" y="2622649"/>
            <a:ext cx="223237" cy="2232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33119" y="3147715"/>
            <a:ext cx="316936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Серверы и ПК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33119" y="3505398"/>
            <a:ext cx="3169364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Отечественные серверы на процессорах «Эльбрус» и «Байкал» имеют приоритет при госзакупках.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39422" y="2314674"/>
            <a:ext cx="3512752" cy="2679303"/>
          </a:xfrm>
          <a:prstGeom prst="roundRect">
            <a:avLst>
              <a:gd name="adj" fmla="val 5556"/>
            </a:avLst>
          </a:prstGeom>
          <a:solidFill>
            <a:srgbClr val="FFCCD1"/>
          </a:solidFill>
          <a:ln w="6350">
            <a:solidFill>
              <a:srgbClr val="E5B2B7"/>
            </a:solidFill>
            <a:prstDash val="solid"/>
          </a:ln>
          <a:effectLst>
            <a:outerShdw blurRad="127" dist="21590" dir="2700000" algn="bl" rotWithShape="0">
              <a:srgbClr val="E5B2B7">
                <a:alpha val="10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11066" y="2486323"/>
            <a:ext cx="496081" cy="496094"/>
          </a:xfrm>
          <a:prstGeom prst="ellipse">
            <a:avLst/>
          </a:prstGeom>
          <a:solidFill>
            <a:srgbClr val="E199BB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47488" y="2622649"/>
            <a:ext cx="223237" cy="2232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11066" y="3147715"/>
            <a:ext cx="316946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Сетевое оборудование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11066" y="3505398"/>
            <a:ext cx="3169464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Коммутаторы, маршрутизаторы и средства защиты российского производства для госсектора.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017468" y="2314674"/>
            <a:ext cx="3512653" cy="2679303"/>
          </a:xfrm>
          <a:prstGeom prst="roundRect">
            <a:avLst>
              <a:gd name="adj" fmla="val 5556"/>
            </a:avLst>
          </a:prstGeom>
          <a:solidFill>
            <a:srgbClr val="FFCCD1"/>
          </a:solidFill>
          <a:ln w="6350">
            <a:solidFill>
              <a:srgbClr val="E5B2B7"/>
            </a:solidFill>
            <a:prstDash val="solid"/>
          </a:ln>
          <a:effectLst>
            <a:outerShdw blurRad="127" dist="21590" dir="2700000" algn="bl" rotWithShape="0">
              <a:srgbClr val="E5B2B7">
                <a:alpha val="10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189112" y="2486323"/>
            <a:ext cx="496081" cy="496094"/>
          </a:xfrm>
          <a:prstGeom prst="ellipse">
            <a:avLst/>
          </a:prstGeom>
          <a:solidFill>
            <a:srgbClr val="E199BB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25535" y="2622649"/>
            <a:ext cx="223237" cy="2232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89112" y="3147715"/>
            <a:ext cx="3169364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Электронная компонентная база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189112" y="3763863"/>
            <a:ext cx="3169364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Подтверждение российского происхождения компонентов — ключевое условие попадания в реестр.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61475" y="5180013"/>
            <a:ext cx="10868745" cy="925909"/>
          </a:xfrm>
          <a:prstGeom prst="roundRect">
            <a:avLst>
              <a:gd name="adj" fmla="val 16076"/>
            </a:avLst>
          </a:prstGeom>
          <a:solidFill>
            <a:srgbClr val="FFCCD1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6769" y="5419725"/>
            <a:ext cx="206667" cy="16529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198731" y="5386586"/>
            <a:ext cx="1016619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Для IT-специалиста: при проектировании инфраструктуры для государственных заказчиков необходимо учитывать оба реестра — ПО и оборудования.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01253"/>
            <a:ext cx="6296860" cy="1017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ФСТЭК: защита информации в государственном секторе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5233360" y="1758950"/>
            <a:ext cx="6296860" cy="775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Федеральная служба по техническому и экспортному контролю (ФСТЭК России) — ключевой регулятор в сфере защиты информации, не составляющей государственную тайну, и безопасности КИИ.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5116186" y="2714625"/>
            <a:ext cx="3184247" cy="3642122"/>
          </a:xfrm>
          <a:prstGeom prst="roundRect">
            <a:avLst>
              <a:gd name="adj" fmla="val 7363"/>
            </a:avLst>
          </a:prstGeom>
          <a:solidFill>
            <a:srgbClr val="FFC7CD"/>
          </a:solidFill>
          <a:ln/>
        </p:spPr>
      </p:sp>
      <p:sp>
        <p:nvSpPr>
          <p:cNvPr id="6" name="Text 3"/>
          <p:cNvSpPr/>
          <p:nvPr/>
        </p:nvSpPr>
        <p:spPr>
          <a:xfrm>
            <a:off x="5278901" y="2874863"/>
            <a:ext cx="2858818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Основные функции ФСТЭК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278901" y="3289399"/>
            <a:ext cx="2858818" cy="30112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54000" indent="-254000" algn="l">
              <a:lnSpc>
                <a:spcPct val="132000"/>
              </a:lnSpc>
              <a:buSzPct val="100000"/>
              <a:buChar char="•"/>
            </a:pPr>
            <a:r>
              <a:rPr lang="en-US" sz="12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Аттестация автоматизированных систем по требованиям безопасности</a:t>
            </a:r>
            <a:endParaRPr lang="en-US" sz="1250" dirty="0"/>
          </a:p>
          <a:p>
            <a:pPr marL="254000" indent="-254000" algn="l">
              <a:lnSpc>
                <a:spcPct val="132000"/>
              </a:lnSpc>
              <a:buSzPct val="100000"/>
              <a:buChar char="•"/>
            </a:pPr>
            <a:r>
              <a:rPr lang="en-US" sz="12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Лицензирование деятельности по защите информации</a:t>
            </a:r>
            <a:endParaRPr lang="en-US" sz="1250" dirty="0"/>
          </a:p>
          <a:p>
            <a:pPr marL="254000" indent="-254000" algn="l">
              <a:lnSpc>
                <a:spcPct val="132000"/>
              </a:lnSpc>
              <a:buSzPct val="100000"/>
              <a:buChar char="•"/>
            </a:pPr>
            <a:r>
              <a:rPr lang="en-US" sz="12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Ведение реестра сертифицированных средств защиты</a:t>
            </a:r>
            <a:endParaRPr lang="en-US" sz="1250" dirty="0"/>
          </a:p>
          <a:p>
            <a:pPr marL="254000" indent="-254000" algn="l">
              <a:lnSpc>
                <a:spcPct val="132000"/>
              </a:lnSpc>
              <a:buSzPct val="100000"/>
              <a:buChar char="•"/>
            </a:pPr>
            <a:r>
              <a:rPr lang="en-US" sz="12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Разработка нормативных методических документов (серия приказов 17, 21, 239)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586672" y="2874863"/>
            <a:ext cx="2949898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Сфера ответственности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586672" y="3289399"/>
            <a:ext cx="2949898" cy="2752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54000" indent="-254000" algn="l">
              <a:lnSpc>
                <a:spcPct val="132000"/>
              </a:lnSpc>
              <a:buSzPct val="100000"/>
              <a:buChar char="•"/>
            </a:pPr>
            <a:r>
              <a:rPr lang="en-US" sz="12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Государственные информационные системы (ГИС)</a:t>
            </a:r>
            <a:endParaRPr lang="en-US" sz="1250" dirty="0"/>
          </a:p>
          <a:p>
            <a:pPr marL="254000" indent="-254000" algn="l">
              <a:lnSpc>
                <a:spcPct val="132000"/>
              </a:lnSpc>
              <a:buSzPct val="100000"/>
              <a:buChar char="•"/>
            </a:pPr>
            <a:r>
              <a:rPr lang="en-US" sz="12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Системы, обрабатывающие персональные данные</a:t>
            </a:r>
            <a:endParaRPr lang="en-US" sz="1250" dirty="0"/>
          </a:p>
          <a:p>
            <a:pPr marL="254000" indent="-254000" algn="l">
              <a:lnSpc>
                <a:spcPct val="132000"/>
              </a:lnSpc>
              <a:buSzPct val="100000"/>
              <a:buChar char="•"/>
            </a:pPr>
            <a:r>
              <a:rPr lang="en-US" sz="12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Объекты критической информационной инфраструктуры</a:t>
            </a:r>
            <a:endParaRPr lang="en-US" sz="1250" dirty="0"/>
          </a:p>
          <a:p>
            <a:pPr marL="254000" indent="-254000" algn="l">
              <a:lnSpc>
                <a:spcPct val="132000"/>
              </a:lnSpc>
              <a:buSzPct val="100000"/>
              <a:buChar char="•"/>
            </a:pPr>
            <a:r>
              <a:rPr lang="en-US" sz="12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Системы, обрабатывающие государственную тайну (совместно с ФСБ)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30201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ФСБ: криптографическая защита информации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977628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Федеральная служба безопасности РФ регулирует все аспекты, связанные с криптографическими средствами защиты информации (СКЗИ). Это одна из наиболее строго регулируемых областей IT.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61475" y="2692896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61475" y="2954834"/>
            <a:ext cx="3512653" cy="19050"/>
          </a:xfrm>
          <a:prstGeom prst="rect">
            <a:avLst/>
          </a:prstGeom>
          <a:solidFill>
            <a:srgbClr val="E199BB"/>
          </a:solidFill>
          <a:ln/>
        </p:spPr>
      </p:sp>
      <p:sp>
        <p:nvSpPr>
          <p:cNvPr id="6" name="Text 4"/>
          <p:cNvSpPr/>
          <p:nvPr/>
        </p:nvSpPr>
        <p:spPr>
          <a:xfrm>
            <a:off x="661475" y="3075583"/>
            <a:ext cx="351265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Лицензирование шифрования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61475" y="3433266"/>
            <a:ext cx="3512653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Разработка, производство и распространение средств криптографической защиты требуют лицензии ФСБ России.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39422" y="2692896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39422" y="2954834"/>
            <a:ext cx="3512752" cy="19050"/>
          </a:xfrm>
          <a:prstGeom prst="rect">
            <a:avLst/>
          </a:prstGeom>
          <a:solidFill>
            <a:srgbClr val="E199BB"/>
          </a:solidFill>
          <a:ln/>
        </p:spPr>
      </p:sp>
      <p:sp>
        <p:nvSpPr>
          <p:cNvPr id="10" name="Text 8"/>
          <p:cNvSpPr/>
          <p:nvPr/>
        </p:nvSpPr>
        <p:spPr>
          <a:xfrm>
            <a:off x="4339422" y="3075583"/>
            <a:ext cx="351275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Сертификация СКЗИ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339422" y="3433266"/>
            <a:ext cx="3512752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Все применяемые в госсекторе криптографические средства должны пройти сертификацию в системе ФСБ.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017468" y="2692896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17468" y="2954834"/>
            <a:ext cx="3512653" cy="19050"/>
          </a:xfrm>
          <a:prstGeom prst="rect">
            <a:avLst/>
          </a:prstGeom>
          <a:solidFill>
            <a:srgbClr val="E199BB"/>
          </a:solidFill>
          <a:ln/>
        </p:spPr>
      </p:sp>
      <p:sp>
        <p:nvSpPr>
          <p:cNvPr id="14" name="Text 12"/>
          <p:cNvSpPr/>
          <p:nvPr/>
        </p:nvSpPr>
        <p:spPr>
          <a:xfrm>
            <a:off x="8017468" y="3075583"/>
            <a:ext cx="351265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Электронная подпись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017468" y="3433266"/>
            <a:ext cx="3512653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ГОСТ Р 34.10-2012 (алгоритм ЭЦП) и ГОСТ Р 34.11-2012 (хэш-функция «Стрибог») разработаны и сертифицированы при участии ФСБ.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61475" y="4785320"/>
            <a:ext cx="10868745" cy="925909"/>
          </a:xfrm>
          <a:prstGeom prst="roundRect">
            <a:avLst>
              <a:gd name="adj" fmla="val 16076"/>
            </a:avLst>
          </a:prstGeom>
          <a:solidFill>
            <a:srgbClr val="FCF2B5"/>
          </a:solidFill>
          <a:ln/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69" y="5025033"/>
            <a:ext cx="206667" cy="16529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198731" y="5008364"/>
            <a:ext cx="1016619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Разработка ПО, включающего функции шифрования, без соответствующей лицензии ФСБ является административным правонарушением.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69975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Роскомнадзор: контроль за данными пользователей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917402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Федеральная служба по надзору в сфере связи, информационных технологий и массовых коммуникаций (Роскомнадзор) — регулятор, с требованиями которого сталкивается каждый разработчик веб-приложений.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2632670"/>
            <a:ext cx="3512653" cy="2043311"/>
          </a:xfrm>
          <a:prstGeom prst="roundRect">
            <a:avLst>
              <a:gd name="adj" fmla="val 7285"/>
            </a:avLst>
          </a:prstGeom>
          <a:solidFill>
            <a:srgbClr val="FFFFFF"/>
          </a:solidFill>
          <a:ln w="19050">
            <a:solidFill>
              <a:srgbClr val="E5B2B7"/>
            </a:solidFill>
            <a:prstDash val="solid"/>
          </a:ln>
          <a:effectLst>
            <a:outerShdw blurRad="127" dist="21590" dir="2700000" algn="bl" rotWithShape="0">
              <a:srgbClr val="E5B2B7">
                <a:alpha val="1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5819" y="2817019"/>
            <a:ext cx="3143965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Контроль персональных данных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45819" y="3433167"/>
            <a:ext cx="3143965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Ведение реестра операторов ПДн. Плановые и внеплановые проверки IT-компаний на соответствие ФЗ № 152.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39422" y="2632670"/>
            <a:ext cx="3512752" cy="2043311"/>
          </a:xfrm>
          <a:prstGeom prst="roundRect">
            <a:avLst>
              <a:gd name="adj" fmla="val 7285"/>
            </a:avLst>
          </a:prstGeom>
          <a:solidFill>
            <a:srgbClr val="FFFFFF"/>
          </a:solidFill>
          <a:ln w="19050">
            <a:solidFill>
              <a:srgbClr val="E5B2B7"/>
            </a:solidFill>
            <a:prstDash val="solid"/>
          </a:ln>
          <a:effectLst>
            <a:outerShdw blurRad="127" dist="21590" dir="2700000" algn="bl" rotWithShape="0">
              <a:srgbClr val="E5B2B7">
                <a:alpha val="10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23766" y="2817019"/>
            <a:ext cx="314406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Локализация данных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23766" y="3174702"/>
            <a:ext cx="3144064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Контроль за выполнением требования о хранении данных российских граждан на серверах в РФ.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17468" y="2632670"/>
            <a:ext cx="3512653" cy="2043311"/>
          </a:xfrm>
          <a:prstGeom prst="roundRect">
            <a:avLst>
              <a:gd name="adj" fmla="val 7285"/>
            </a:avLst>
          </a:prstGeom>
          <a:solidFill>
            <a:srgbClr val="FFFFFF"/>
          </a:solidFill>
          <a:ln w="19050">
            <a:solidFill>
              <a:srgbClr val="E5B2B7"/>
            </a:solidFill>
            <a:prstDash val="solid"/>
          </a:ln>
          <a:effectLst>
            <a:outerShdw blurRad="127" dist="21590" dir="2700000" algn="bl" rotWithShape="0">
              <a:srgbClr val="E5B2B7">
                <a:alpha val="10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01812" y="2817019"/>
            <a:ext cx="314396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Блокировки и уведомления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01812" y="3174702"/>
            <a:ext cx="3143965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Блокировка сайтов-нарушителей, требования к уведомлению об утечках персональных данных в течение 24–72 часов.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61475" y="4862016"/>
            <a:ext cx="10868745" cy="925909"/>
          </a:xfrm>
          <a:prstGeom prst="roundRect">
            <a:avLst>
              <a:gd name="adj" fmla="val 16076"/>
            </a:avLst>
          </a:prstGeom>
          <a:solidFill>
            <a:srgbClr val="FFCCD1"/>
          </a:solidFill>
          <a:ln/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69" y="5101729"/>
            <a:ext cx="206667" cy="16529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198731" y="5068590"/>
            <a:ext cx="1016619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Любой сайт или мобильное приложение, собирающее данные пользователей (имя, email, телефон), является оператором персональных данных и подпадает под контроль РКН.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75891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Банк России: специфика финансового сектора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423319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Финансовый сектор — наиболее зарегулированная область применения ИТ. Банк России выступает не только финансовым регулятором, но и устанавливает жёсткие требования к информационной безопасности.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2415" y="3138587"/>
            <a:ext cx="5470785" cy="2143522"/>
          </a:xfrm>
          <a:prstGeom prst="roundRect">
            <a:avLst>
              <a:gd name="adj" fmla="val 11111"/>
            </a:avLst>
          </a:prstGeom>
          <a:solidFill>
            <a:srgbClr val="FFC7CD"/>
          </a:solidFill>
          <a:ln/>
        </p:spPr>
      </p:sp>
      <p:sp>
        <p:nvSpPr>
          <p:cNvPr id="5" name="Text 3"/>
          <p:cNvSpPr/>
          <p:nvPr/>
        </p:nvSpPr>
        <p:spPr>
          <a:xfrm>
            <a:off x="707710" y="3303885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Ключевые требования ЦБ РФ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07710" y="3727648"/>
            <a:ext cx="5140196" cy="149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4A4A4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ГОСТ Р 57580.1</a:t>
            </a: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требования к системе обеспечения операционной надёжности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4A4A4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ГОСТ Р 57580.2</a:t>
            </a: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оценка соответствия требованиям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Требования к системе быстрых платежей (СБП)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Обязательный аудит информационной безопасности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03904" y="3303885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Для IT-разработчика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03904" y="3727648"/>
            <a:ext cx="5232666" cy="149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Каждое обновление банковского ПО проходит аудит ИБ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Разработка ведётся по стандартам безопасного программирования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Обязательное нагрузочное тестирование перед релизом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Логирование всех операций с финансовыми данными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17227"/>
            <a:ext cx="6296860" cy="8397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Глобальные правила для цифровой экономики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661475" y="1520726"/>
            <a:ext cx="6296860" cy="584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Техническое регулирование ИКТ — это не только национальная задача. Цифровой мир по природе своей глобален, и борьба за стандарты является формой технологического суверенитета.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661475" y="2227858"/>
            <a:ext cx="6296860" cy="946348"/>
          </a:xfrm>
          <a:prstGeom prst="roundRect">
            <a:avLst>
              <a:gd name="adj" fmla="val 12780"/>
            </a:avLst>
          </a:prstGeom>
          <a:solidFill>
            <a:srgbClr val="FFCCD1"/>
          </a:solidFill>
          <a:ln w="6350">
            <a:solidFill>
              <a:srgbClr val="E5B2B7"/>
            </a:solidFill>
            <a:prstDash val="solid"/>
          </a:ln>
          <a:effectLst>
            <a:outerShdw blurRad="127" dist="17780" dir="2700000" algn="bl" rotWithShape="0">
              <a:srgbClr val="E5B2B7">
                <a:alpha val="10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02164" y="2368550"/>
            <a:ext cx="6015482" cy="2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ISO/IEC JTC 1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02164" y="2643981"/>
            <a:ext cx="6015482" cy="389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Совместный технический комитет по информационным технологиям. Разрабатывает международные стандарты ИТ, включая серию 27000 по ИБ.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61475" y="3283347"/>
            <a:ext cx="6296860" cy="946348"/>
          </a:xfrm>
          <a:prstGeom prst="roundRect">
            <a:avLst>
              <a:gd name="adj" fmla="val 12780"/>
            </a:avLst>
          </a:prstGeom>
          <a:solidFill>
            <a:srgbClr val="FFCCD1"/>
          </a:solidFill>
          <a:ln w="6350">
            <a:solidFill>
              <a:srgbClr val="E5B2B7"/>
            </a:solidFill>
            <a:prstDash val="solid"/>
          </a:ln>
          <a:effectLst>
            <a:outerShdw blurRad="127" dist="17780" dir="2700000" algn="bl" rotWithShape="0">
              <a:srgbClr val="E5B2B7">
                <a:alpha val="10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02164" y="3424039"/>
            <a:ext cx="6015482" cy="2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ITU и IETF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02164" y="3699470"/>
            <a:ext cx="6015482" cy="389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МСЭ разрабатывает стандарты связи. IETF определяет интернет-протоколы через систему документов RFC.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61475" y="4338836"/>
            <a:ext cx="6296860" cy="946348"/>
          </a:xfrm>
          <a:prstGeom prst="roundRect">
            <a:avLst>
              <a:gd name="adj" fmla="val 12780"/>
            </a:avLst>
          </a:prstGeom>
          <a:solidFill>
            <a:srgbClr val="FFCCD1"/>
          </a:solidFill>
          <a:ln w="6350">
            <a:solidFill>
              <a:srgbClr val="E5B2B7"/>
            </a:solidFill>
            <a:prstDash val="solid"/>
          </a:ln>
          <a:effectLst>
            <a:outerShdw blurRad="127" dist="17780" dir="2700000" algn="bl" rotWithShape="0">
              <a:srgbClr val="E5B2B7">
                <a:alpha val="10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02164" y="4479528"/>
            <a:ext cx="6015482" cy="2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ЕС: GDPR и AI Act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02164" y="4754959"/>
            <a:ext cx="6015482" cy="389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Европейские регламенты по защите данных и регулированию ИИ имеют экстерриториальный характер и влияют на российские компании.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61475" y="5394325"/>
            <a:ext cx="6296860" cy="946348"/>
          </a:xfrm>
          <a:prstGeom prst="roundRect">
            <a:avLst>
              <a:gd name="adj" fmla="val 12780"/>
            </a:avLst>
          </a:prstGeom>
          <a:solidFill>
            <a:srgbClr val="FFCCD1"/>
          </a:solidFill>
          <a:ln w="6350">
            <a:solidFill>
              <a:srgbClr val="E5B2B7"/>
            </a:solidFill>
            <a:prstDash val="solid"/>
          </a:ln>
          <a:effectLst>
            <a:outerShdw blurRad="127" dist="17780" dir="2700000" algn="bl" rotWithShape="0">
              <a:srgbClr val="E5B2B7">
                <a:alpha val="10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02164" y="5535017"/>
            <a:ext cx="6015482" cy="2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США и Китай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02164" y="5810448"/>
            <a:ext cx="6015482" cy="389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NIST Cybersecurity Framework и китайские стандарты на ИИ/5G формируют конкурирующие полюса глобальной стандартизации.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91679"/>
            <a:ext cx="10868745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Проблемы и вызовы технического регулирования в ИКТ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255838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Ни одна система регулирования не является идеальной. ИКТ-сектор постоянно опережает законодателей, порождая зоны неопределённости.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2415" y="2971105"/>
            <a:ext cx="5470785" cy="2995216"/>
          </a:xfrm>
          <a:prstGeom prst="roundRect">
            <a:avLst>
              <a:gd name="adj" fmla="val 7951"/>
            </a:avLst>
          </a:prstGeom>
          <a:solidFill>
            <a:srgbClr val="FFC7CD"/>
          </a:solidFill>
          <a:ln/>
        </p:spPr>
      </p:sp>
      <p:sp>
        <p:nvSpPr>
          <p:cNvPr id="5" name="Text 3"/>
          <p:cNvSpPr/>
          <p:nvPr/>
        </p:nvSpPr>
        <p:spPr>
          <a:xfrm>
            <a:off x="707710" y="3136404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Ключевые проблемы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07710" y="3560167"/>
            <a:ext cx="5140196" cy="2348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4A4A4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Скорость:</a:t>
            </a: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технологии появляются быстрее регламентов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4A4A4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Трансграничность:</a:t>
            </a: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данные не признают государственных границ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4A4A4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Фрагментация:</a:t>
            </a: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разные страны — разные требования к одному продукту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4A4A4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Кадровый дефицит:</a:t>
            </a: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острая нехватка специалистов «право + IT»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4A4A4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Баланс:</a:t>
            </a: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избыточное регулирование тормозит инновации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03904" y="3136404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Перспективные подходы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03904" y="3560167"/>
            <a:ext cx="5232666" cy="22904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4A4A4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Agile-стандартизация:</a:t>
            </a: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гибкие стандарты с коротким циклом обновления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4A4A4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Машиночитаемые регламенты:</a:t>
            </a: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требования в формате, понятном для ПО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4A4A4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Принцип технологической нейтральности:</a:t>
            </a: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регулировать результат, а не технологию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4A4A4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Международное сотрудничество:</a:t>
            </a: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гармонизация требований на уровне ЕАЭС и ООН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77677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Как это работает в реальной жизни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625104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Рассмотрим четыре практических сценария, с которыми IT-специалист может столкнуться в своей карьере. Каждый требует знания конкретных нормативных актов и стандартов.</a:t>
            </a:r>
            <a:endParaRPr lang="en-US" sz="13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2340372"/>
          <a:ext cx="10868745" cy="3727159"/>
        </p:xfrm>
        <a:graphic>
          <a:graphicData uri="http://schemas.openxmlformats.org/drawingml/2006/table">
            <a:tbl>
              <a:tblPr/>
              <a:tblGrid>
                <a:gridCol w="30432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127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127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89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72525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Сценарий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72525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Применимые требования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C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72525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Ключевые действия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C7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67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Мобильное приложение банка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ГОСТ Р 57580.x, ФЗ № 152, PCI DSS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Аудит ИБ, уведомление РКН, шифрование по ГОСТ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67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Серверы для госструктуры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ТР ТС 004, ТР ТС 020, приказы ФСТЭК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Сертификация оборудования, аттестация системы, реестр Минпромторга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13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Сайт с формой обратной связи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ФЗ № 152-ФЗ, ФЗ № 149-ФЗ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Уведомление Роскомнадзора, политика конфиденциальности, согласие пользователя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35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ПО для медицинских изделий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DICOM, ФЗ № 323-ФЗ, ТР ТС 017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Регистрация как медизделия, сертификация, соответствие DICOM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5188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Ваше место в системе технического регулирования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599307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Техническое регулирование — не абстрактная юридическая материя, а повседневная реальность IT-специалиста. Понимание требований открывает новые профессиональные возможности.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314575"/>
            <a:ext cx="1281080" cy="128111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07850" y="2314575"/>
            <a:ext cx="1115786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Разработчик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107850" y="2930723"/>
            <a:ext cx="1115786" cy="2646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Знание обязательных требований на этапе проектирования — экономия бюджета и сроков проекта.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0303" y="2314575"/>
            <a:ext cx="1281080" cy="128111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876678" y="2314575"/>
            <a:ext cx="1115786" cy="775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Архитектор / Аналитик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876678" y="3189188"/>
            <a:ext cx="1115786" cy="18523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Проектирование систем с учётом требований ФСТЭК, ФСБ и отраслевых регуляторов.</a:t>
            </a:r>
            <a:endParaRPr lang="en-US" sz="13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9132" y="2314575"/>
            <a:ext cx="1281080" cy="128111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645506" y="2314575"/>
            <a:ext cx="1115786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Специалист по ИБ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7645506" y="2930723"/>
            <a:ext cx="1115786" cy="31753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Внедрение, аудит и поддержание соответствия требованиям регуляторов — одна из самых востребованных специализаций.</a:t>
            </a:r>
            <a:endParaRPr lang="en-US" sz="13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7960" y="2314575"/>
            <a:ext cx="1281080" cy="128111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414335" y="2314575"/>
            <a:ext cx="1115885" cy="775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Консультант / Аудитор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10414335" y="3189188"/>
            <a:ext cx="1115885" cy="2646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Сопровождение заказчиков при сертификации, аттестации и прохождении проверок регуляторов.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08893"/>
            <a:ext cx="10868745" cy="492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Резюме: ключевые выводы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61475" y="1301948"/>
            <a:ext cx="10868745" cy="492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Подведём итог лекции. Техническое регулирование — это не «скучная бюрократия», а профессиональный фундамент, без знания которого невозможно успешно работать в современном IT.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61475" y="1963440"/>
            <a:ext cx="354599" cy="354608"/>
          </a:xfrm>
          <a:prstGeom prst="roundRect">
            <a:avLst>
              <a:gd name="adj" fmla="val 40010"/>
            </a:avLst>
          </a:prstGeom>
          <a:solidFill>
            <a:srgbClr val="FFCCD1"/>
          </a:solidFill>
          <a:ln w="6350">
            <a:solidFill>
              <a:srgbClr val="E5B2B7"/>
            </a:solidFill>
            <a:prstDash val="solid"/>
          </a:ln>
          <a:effectLst>
            <a:outerShdw blurRad="127" dist="20320" dir="2700000" algn="bl" rotWithShape="0">
              <a:srgbClr val="E5B2B7">
                <a:alpha val="1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20558" y="1992957"/>
            <a:ext cx="236432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1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1166287" y="2017613"/>
            <a:ext cx="10363933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Техническое регулирование обязательно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166287" y="2353965"/>
            <a:ext cx="10363933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Каждый IT-специалист обязан знать применимые к его работе нормативные требования.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1475" y="2900660"/>
            <a:ext cx="354599" cy="354608"/>
          </a:xfrm>
          <a:prstGeom prst="roundRect">
            <a:avLst>
              <a:gd name="adj" fmla="val 40010"/>
            </a:avLst>
          </a:prstGeom>
          <a:solidFill>
            <a:srgbClr val="FFCCD1"/>
          </a:solidFill>
          <a:ln w="6350">
            <a:solidFill>
              <a:srgbClr val="E5B2B7"/>
            </a:solidFill>
            <a:prstDash val="solid"/>
          </a:ln>
          <a:effectLst>
            <a:outerShdw blurRad="127" dist="20320" dir="2700000" algn="bl" rotWithShape="0">
              <a:srgbClr val="E5B2B7">
                <a:alpha val="10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20558" y="2930178"/>
            <a:ext cx="236432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2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1166287" y="2954834"/>
            <a:ext cx="10363933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Стандарты становятся обязательными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166287" y="3291185"/>
            <a:ext cx="10363933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Добровольные стандарты превращаются в обязательные через регламенты, контракты и требования регуляторов.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61475" y="3837880"/>
            <a:ext cx="354599" cy="354608"/>
          </a:xfrm>
          <a:prstGeom prst="roundRect">
            <a:avLst>
              <a:gd name="adj" fmla="val 40010"/>
            </a:avLst>
          </a:prstGeom>
          <a:solidFill>
            <a:srgbClr val="FFCCD1"/>
          </a:solidFill>
          <a:ln w="6350">
            <a:solidFill>
              <a:srgbClr val="E5B2B7"/>
            </a:solidFill>
            <a:prstDash val="solid"/>
          </a:ln>
          <a:effectLst>
            <a:outerShdw blurRad="127" dist="20320" dir="2700000" algn="bl" rotWithShape="0">
              <a:srgbClr val="E5B2B7">
                <a:alpha val="10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20558" y="3867398"/>
            <a:ext cx="236432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3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1166287" y="3892054"/>
            <a:ext cx="10363933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ИБ, ПДн и КИИ — в приоритете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166287" y="4228405"/>
            <a:ext cx="10363933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Информационная безопасность, персональные данные и критическая инфраструктура — три столпа регулирования в ИКТ.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61475" y="4775101"/>
            <a:ext cx="354599" cy="354608"/>
          </a:xfrm>
          <a:prstGeom prst="roundRect">
            <a:avLst>
              <a:gd name="adj" fmla="val 40010"/>
            </a:avLst>
          </a:prstGeom>
          <a:solidFill>
            <a:srgbClr val="FFCCD1"/>
          </a:solidFill>
          <a:ln w="6350">
            <a:solidFill>
              <a:srgbClr val="E5B2B7"/>
            </a:solidFill>
            <a:prstDash val="solid"/>
          </a:ln>
          <a:effectLst>
            <a:outerShdw blurRad="127" dist="20320" dir="2700000" algn="bl" rotWithShape="0">
              <a:srgbClr val="E5B2B7">
                <a:alpha val="10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20558" y="4804618"/>
            <a:ext cx="236432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4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1166287" y="4829274"/>
            <a:ext cx="10363933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Знание регуляторов — конкурентное преимущество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166287" y="5165626"/>
            <a:ext cx="10363933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Понимание системы ФСТЭК, ФСБ, РКН и ЦБ РФ отличает востребованного специалиста от рядового разработчика.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1475" y="5712321"/>
            <a:ext cx="354599" cy="354608"/>
          </a:xfrm>
          <a:prstGeom prst="roundRect">
            <a:avLst>
              <a:gd name="adj" fmla="val 40010"/>
            </a:avLst>
          </a:prstGeom>
          <a:solidFill>
            <a:srgbClr val="FFCCD1"/>
          </a:solidFill>
          <a:ln w="6350">
            <a:solidFill>
              <a:srgbClr val="E5B2B7"/>
            </a:solidFill>
            <a:prstDash val="solid"/>
          </a:ln>
          <a:effectLst>
            <a:outerShdw blurRad="127" dist="20320" dir="2700000" algn="bl" rotWithShape="0">
              <a:srgbClr val="E5B2B7">
                <a:alpha val="10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20558" y="5741839"/>
            <a:ext cx="236432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5</a:t>
            </a:r>
            <a:endParaRPr lang="en-US" sz="1850" dirty="0"/>
          </a:p>
        </p:txBody>
      </p:sp>
      <p:sp>
        <p:nvSpPr>
          <p:cNvPr id="22" name="Text 20"/>
          <p:cNvSpPr/>
          <p:nvPr/>
        </p:nvSpPr>
        <p:spPr>
          <a:xfrm>
            <a:off x="1166287" y="5766495"/>
            <a:ext cx="10363933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Глобальная конкуренция — это конкуренция за стандарты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166287" y="6102846"/>
            <a:ext cx="10363933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Страна, устанавливающая стандарты, определяет правила технологического развития для всего мира.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E3C57C-2D3A-4448-AA14-7226D102155B}"/>
              </a:ext>
            </a:extLst>
          </p:cNvPr>
          <p:cNvSpPr txBox="1"/>
          <p:nvPr/>
        </p:nvSpPr>
        <p:spPr>
          <a:xfrm>
            <a:off x="736847" y="461639"/>
            <a:ext cx="6187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ДЗ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29C395-1E2D-4E89-9AB4-E16E052DC9D0}"/>
              </a:ext>
            </a:extLst>
          </p:cNvPr>
          <p:cNvSpPr txBox="1"/>
          <p:nvPr/>
        </p:nvSpPr>
        <p:spPr>
          <a:xfrm>
            <a:off x="1420427" y="1624614"/>
            <a:ext cx="59924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Доделать сравнение гостов, </a:t>
            </a:r>
          </a:p>
          <a:p>
            <a:r>
              <a:rPr lang="ru-RU" dirty="0"/>
              <a:t>Изучите </a:t>
            </a:r>
            <a:r>
              <a:rPr lang="ru-RU" dirty="0" err="1"/>
              <a:t>поставновление</a:t>
            </a:r>
            <a:r>
              <a:rPr lang="ru-RU" dirty="0"/>
              <a:t> 2425 и найдите там Компьютеры портативные. Если нет напишите, что не нашли</a:t>
            </a:r>
          </a:p>
        </p:txBody>
      </p:sp>
    </p:spTree>
    <p:extLst>
      <p:ext uri="{BB962C8B-B14F-4D97-AF65-F5344CB8AC3E}">
        <p14:creationId xmlns:p14="http://schemas.microsoft.com/office/powerpoint/2010/main" val="23606786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3004</Words>
  <Application>Microsoft Office PowerPoint</Application>
  <PresentationFormat>Широкоэкранный</PresentationFormat>
  <Paragraphs>376</Paragraphs>
  <Slides>32</Slides>
  <Notes>31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32</vt:i4>
      </vt:variant>
    </vt:vector>
  </HeadingPairs>
  <TitlesOfParts>
    <vt:vector size="39" baseType="lpstr">
      <vt:lpstr>DM Sans SemiBold</vt:lpstr>
      <vt:lpstr>DM Sans Bold</vt:lpstr>
      <vt:lpstr>DM Sans Light</vt:lpstr>
      <vt:lpstr>Arial</vt:lpstr>
      <vt:lpstr>Calibri</vt:lpstr>
      <vt:lpstr>DM Sans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lastModifiedBy>local</cp:lastModifiedBy>
  <cp:revision>4</cp:revision>
  <dcterms:created xsi:type="dcterms:W3CDTF">2026-09-03T15:05:42Z</dcterms:created>
  <dcterms:modified xsi:type="dcterms:W3CDTF">2026-09-08T15:36:15Z</dcterms:modified>
</cp:coreProperties>
</file>